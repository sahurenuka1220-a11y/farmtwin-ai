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22"/>
  </p:notesMasterIdLst>
  <p:sldIdLst>
    <p:sldId id="290" r:id="rId2"/>
    <p:sldId id="291" r:id="rId3"/>
    <p:sldId id="292" r:id="rId4"/>
    <p:sldId id="293" r:id="rId5"/>
    <p:sldId id="294" r:id="rId6"/>
    <p:sldId id="312" r:id="rId7"/>
    <p:sldId id="310" r:id="rId8"/>
    <p:sldId id="296" r:id="rId9"/>
    <p:sldId id="313" r:id="rId10"/>
    <p:sldId id="299" r:id="rId11"/>
    <p:sldId id="301" r:id="rId12"/>
    <p:sldId id="302" r:id="rId13"/>
    <p:sldId id="303" r:id="rId14"/>
    <p:sldId id="304" r:id="rId15"/>
    <p:sldId id="305" r:id="rId16"/>
    <p:sldId id="306" r:id="rId17"/>
    <p:sldId id="307" r:id="rId18"/>
    <p:sldId id="314" r:id="rId19"/>
    <p:sldId id="308" r:id="rId20"/>
    <p:sldId id="309" r:id="rId21"/>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27" roundtripDataSignature="AMtx7mjt3491jQ7aCoyIz2WXeHKroE7tp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597DED7-87E9-8FFE-C42B-07F44890EE69}" v="36" dt="2026-07-14T12:42:56.737"/>
  </p1510:revLst>
</p1510:revInfo>
</file>

<file path=ppt/tableStyles.xml><?xml version="1.0" encoding="utf-8"?>
<a:tblStyleLst xmlns:a="http://schemas.openxmlformats.org/drawingml/2006/main" def="{0AAD8F4D-43EB-41E5-8A38-28AB6DFB1B60}">
  <a:tblStyle styleId="{0AAD8F4D-43EB-41E5-8A38-28AB6DFB1B60}"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93" d="100"/>
          <a:sy n="93" d="100"/>
        </p:scale>
        <p:origin x="202"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32"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customschemas.google.com/relationships/presentationmetadata" Target="metadata"/><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9" name="Google Shape;89;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48C2B95B-FB15-C156-6AF1-35B35818164E}"/>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770A13E9-BC77-63DA-E106-A3FA8022811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29067B0F-2F4F-7081-A661-0AE31BFBB78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055410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E37D20EF-0791-5303-F96E-0F0C1B50B73D}"/>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9DCBA8EB-6D71-7B5E-841C-4BFFBDA5F1B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5C2CD162-5BE5-06C8-E06C-B4A49D4BCFF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3135405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11626E4B-E119-2382-6F8F-518641144E90}"/>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01A6FF9F-971F-6CD8-61F5-25638A5985F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C8EB5C80-6A4B-AE05-9BE0-03B5AF5C22A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8273657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a:extLst>
            <a:ext uri="{FF2B5EF4-FFF2-40B4-BE49-F238E27FC236}">
              <a16:creationId xmlns:a16="http://schemas.microsoft.com/office/drawing/2014/main" id="{E169E55F-D5D4-3617-E052-2BE2ADAB08D4}"/>
            </a:ext>
          </a:extLst>
        </p:cNvPr>
        <p:cNvGrpSpPr/>
        <p:nvPr/>
      </p:nvGrpSpPr>
      <p:grpSpPr>
        <a:xfrm>
          <a:off x="0" y="0"/>
          <a:ext cx="0" cy="0"/>
          <a:chOff x="0" y="0"/>
          <a:chExt cx="0" cy="0"/>
        </a:xfrm>
      </p:grpSpPr>
      <p:sp>
        <p:nvSpPr>
          <p:cNvPr id="129" name="Google Shape;129;p5:notes">
            <a:extLst>
              <a:ext uri="{FF2B5EF4-FFF2-40B4-BE49-F238E27FC236}">
                <a16:creationId xmlns:a16="http://schemas.microsoft.com/office/drawing/2014/main" id="{D37E3431-E1B2-C82F-4D59-5EBAB6F705B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0" name="Google Shape;130;p5:notes">
            <a:extLst>
              <a:ext uri="{FF2B5EF4-FFF2-40B4-BE49-F238E27FC236}">
                <a16:creationId xmlns:a16="http://schemas.microsoft.com/office/drawing/2014/main" id="{084AF3C4-C319-26DA-4F82-0190738D815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89904583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a16="http://schemas.microsoft.com/office/drawing/2014/main" id="{279463AA-D7FA-5F7E-C4D0-06BDEDCBB932}"/>
            </a:ext>
          </a:extLst>
        </p:cNvPr>
        <p:cNvGrpSpPr/>
        <p:nvPr/>
      </p:nvGrpSpPr>
      <p:grpSpPr>
        <a:xfrm>
          <a:off x="0" y="0"/>
          <a:ext cx="0" cy="0"/>
          <a:chOff x="0" y="0"/>
          <a:chExt cx="0" cy="0"/>
        </a:xfrm>
      </p:grpSpPr>
      <p:sp>
        <p:nvSpPr>
          <p:cNvPr id="171" name="Google Shape;171;p7:notes">
            <a:extLst>
              <a:ext uri="{FF2B5EF4-FFF2-40B4-BE49-F238E27FC236}">
                <a16:creationId xmlns:a16="http://schemas.microsoft.com/office/drawing/2014/main" id="{A84E3171-2C5C-8738-5718-5608CE1B13A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a:extLst>
              <a:ext uri="{FF2B5EF4-FFF2-40B4-BE49-F238E27FC236}">
                <a16:creationId xmlns:a16="http://schemas.microsoft.com/office/drawing/2014/main" id="{E16E406D-2512-5EF2-0167-6C895346954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3496662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a16="http://schemas.microsoft.com/office/drawing/2014/main" id="{6F070C0C-5210-B7F5-F6FC-A0C80BCCB615}"/>
            </a:ext>
          </a:extLst>
        </p:cNvPr>
        <p:cNvGrpSpPr/>
        <p:nvPr/>
      </p:nvGrpSpPr>
      <p:grpSpPr>
        <a:xfrm>
          <a:off x="0" y="0"/>
          <a:ext cx="0" cy="0"/>
          <a:chOff x="0" y="0"/>
          <a:chExt cx="0" cy="0"/>
        </a:xfrm>
      </p:grpSpPr>
      <p:sp>
        <p:nvSpPr>
          <p:cNvPr id="171" name="Google Shape;171;p7:notes">
            <a:extLst>
              <a:ext uri="{FF2B5EF4-FFF2-40B4-BE49-F238E27FC236}">
                <a16:creationId xmlns:a16="http://schemas.microsoft.com/office/drawing/2014/main" id="{393B49E5-90A6-A306-1B57-E1A295F8546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a:extLst>
              <a:ext uri="{FF2B5EF4-FFF2-40B4-BE49-F238E27FC236}">
                <a16:creationId xmlns:a16="http://schemas.microsoft.com/office/drawing/2014/main" id="{4220C403-846C-1D18-105E-3945D325B7D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0438011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0" name="Google Shape;190;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8E9CB32A-B328-07DF-4F33-E0118C920B5A}"/>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8BD392DC-EA03-14B5-7A53-AC36124B41C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F90BE8D5-07EC-73D0-0A62-4778024FF05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8420779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4F18774C-544B-0071-4FA9-86D0ADEC5A87}"/>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68645894-EE59-A5F4-D411-C82EB564E1C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FEE489F0-0910-6D8B-0254-C25DB088272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7735855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BB47F127-39C9-4CE0-52A6-66BD53AE96F2}"/>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57CB72F8-8B0E-1466-D091-917F3E75592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1CEA3A31-DD75-5F0D-19FB-8192F5E7F99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94587127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C2F88CF5-D0C3-0228-6C1A-E849738B9B34}"/>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15C41DBA-EB5E-9EB1-28D2-68EF3081A29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9AACA92E-BC74-25E5-B8D5-2E658F81C2F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758711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A795C14E-5D6A-39A3-2018-2C72BB451BBD}"/>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85B8BB2F-0927-3841-AC64-CC67B503586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58797E72-A3BC-0A49-07C4-DE7FDA75236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207868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466C47D1-19F6-52AF-3914-DD3C99058916}"/>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ACA1F779-4C2B-4CD1-FBDD-A40F0A32234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40004D30-6E86-E263-D5DA-7577B1C759B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2216939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p:cNvGrpSpPr/>
        <p:nvPr/>
      </p:nvGrpSpPr>
      <p:grpSpPr>
        <a:xfrm>
          <a:off x="0" y="0"/>
          <a:ext cx="0" cy="0"/>
          <a:chOff x="0" y="0"/>
          <a:chExt cx="0" cy="0"/>
        </a:xfrm>
      </p:grpSpPr>
      <p:sp>
        <p:nvSpPr>
          <p:cNvPr id="304" name="Google Shape;304;p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5" name="Google Shape;305;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2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3"/>
        <p:cNvGrpSpPr/>
        <p:nvPr/>
      </p:nvGrpSpPr>
      <p:grpSpPr>
        <a:xfrm>
          <a:off x="0" y="0"/>
          <a:ext cx="0" cy="0"/>
          <a:chOff x="0" y="0"/>
          <a:chExt cx="0" cy="0"/>
        </a:xfrm>
      </p:grpSpPr>
      <p:sp>
        <p:nvSpPr>
          <p:cNvPr id="24" name="Google Shape;24;p24"/>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24"/>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26" name="Google Shape;26;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9"/>
        <p:cNvGrpSpPr/>
        <p:nvPr/>
      </p:nvGrpSpPr>
      <p:grpSpPr>
        <a:xfrm>
          <a:off x="0" y="0"/>
          <a:ext cx="0" cy="0"/>
          <a:chOff x="0" y="0"/>
          <a:chExt cx="0" cy="0"/>
        </a:xfrm>
      </p:grpSpPr>
      <p:sp>
        <p:nvSpPr>
          <p:cNvPr id="30" name="Google Shape;30;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25"/>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2" name="Google Shape;32;p25"/>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6"/>
        <p:cNvGrpSpPr/>
        <p:nvPr/>
      </p:nvGrpSpPr>
      <p:grpSpPr>
        <a:xfrm>
          <a:off x="0" y="0"/>
          <a:ext cx="0" cy="0"/>
          <a:chOff x="0" y="0"/>
          <a:chExt cx="0" cy="0"/>
        </a:xfrm>
      </p:grpSpPr>
      <p:sp>
        <p:nvSpPr>
          <p:cNvPr id="37" name="Google Shape;37;p2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26"/>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9" name="Google Shape;39;p26"/>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26"/>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1" name="Google Shape;41;p26"/>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 name="Google Shape;42;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5"/>
        <p:cNvGrpSpPr/>
        <p:nvPr/>
      </p:nvGrpSpPr>
      <p:grpSpPr>
        <a:xfrm>
          <a:off x="0" y="0"/>
          <a:ext cx="0" cy="0"/>
          <a:chOff x="0" y="0"/>
          <a:chExt cx="0" cy="0"/>
        </a:xfrm>
      </p:grpSpPr>
      <p:sp>
        <p:nvSpPr>
          <p:cNvPr id="46" name="Google Shape;46;p2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0"/>
        <p:cNvGrpSpPr/>
        <p:nvPr/>
      </p:nvGrpSpPr>
      <p:grpSpPr>
        <a:xfrm>
          <a:off x="0" y="0"/>
          <a:ext cx="0" cy="0"/>
          <a:chOff x="0" y="0"/>
          <a:chExt cx="0" cy="0"/>
        </a:xfrm>
      </p:grpSpPr>
      <p:sp>
        <p:nvSpPr>
          <p:cNvPr id="51" name="Google Shape;51;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2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2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7" name="Google Shape;57;p2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8" name="Google Shape;58;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3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30"/>
          <p:cNvSpPr>
            <a:spLocks noGrp="1"/>
          </p:cNvSpPr>
          <p:nvPr>
            <p:ph type="pic" idx="2"/>
          </p:nvPr>
        </p:nvSpPr>
        <p:spPr>
          <a:xfrm>
            <a:off x="5183188" y="987425"/>
            <a:ext cx="6172200" cy="4873625"/>
          </a:xfrm>
          <a:prstGeom prst="rect">
            <a:avLst/>
          </a:prstGeom>
          <a:noFill/>
          <a:ln>
            <a:noFill/>
          </a:ln>
        </p:spPr>
      </p:sp>
      <p:sp>
        <p:nvSpPr>
          <p:cNvPr id="64" name="Google Shape;64;p3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5" name="Google Shape;65;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3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3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3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3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2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F97BF8-B3EC-77A2-9BFD-D66830272D56}"/>
              </a:ext>
            </a:extLst>
          </p:cNvPr>
          <p:cNvSpPr>
            <a:spLocks noGrp="1"/>
          </p:cNvSpPr>
          <p:nvPr>
            <p:ph type="title"/>
          </p:nvPr>
        </p:nvSpPr>
        <p:spPr/>
        <p:txBody>
          <a:bodyPr>
            <a:normAutofit/>
          </a:bodyPr>
          <a:lstStyle/>
          <a:p>
            <a:pPr algn="ctr"/>
            <a:r>
              <a:rPr lang="en-US" sz="6600" b="1"/>
              <a:t>IBM University Engagement Project Submission</a:t>
            </a:r>
            <a:br>
              <a:rPr lang="en-US" b="1"/>
            </a:br>
            <a:endParaRPr lang="en-IN"/>
          </a:p>
        </p:txBody>
      </p:sp>
      <p:sp>
        <p:nvSpPr>
          <p:cNvPr id="3" name="Text Placeholder 2">
            <a:extLst>
              <a:ext uri="{FF2B5EF4-FFF2-40B4-BE49-F238E27FC236}">
                <a16:creationId xmlns:a16="http://schemas.microsoft.com/office/drawing/2014/main" id="{FFAB85A1-2169-FF43-3E91-E2E8ADA742FF}"/>
              </a:ext>
            </a:extLst>
          </p:cNvPr>
          <p:cNvSpPr>
            <a:spLocks noGrp="1"/>
          </p:cNvSpPr>
          <p:nvPr>
            <p:ph type="body" idx="1"/>
          </p:nvPr>
        </p:nvSpPr>
        <p:spPr>
          <a:xfrm>
            <a:off x="1014730" y="3903663"/>
            <a:ext cx="10515600" cy="1500187"/>
          </a:xfrm>
        </p:spPr>
        <p:txBody>
          <a:bodyPr/>
          <a:lstStyle/>
          <a:p>
            <a:pPr algn="ctr"/>
            <a:r>
              <a:rPr lang="en-US" b="1" i="1"/>
              <a:t>“Exploring the Power of Agentic AI with IBM Granite and IBM Bob”</a:t>
            </a:r>
            <a:endParaRPr lang="en-IN"/>
          </a:p>
        </p:txBody>
      </p:sp>
    </p:spTree>
    <p:extLst>
      <p:ext uri="{BB962C8B-B14F-4D97-AF65-F5344CB8AC3E}">
        <p14:creationId xmlns:p14="http://schemas.microsoft.com/office/powerpoint/2010/main" val="382855952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2" name="Google Shape;92;p2"/>
          <p:cNvSpPr/>
          <p:nvPr/>
        </p:nvSpPr>
        <p:spPr>
          <a:xfrm>
            <a:off x="690624" y="4425370"/>
            <a:ext cx="10795794" cy="199230"/>
          </a:xfrm>
          <a:prstGeom prst="rect">
            <a:avLst/>
          </a:prstGeom>
          <a:noFill/>
          <a:ln>
            <a:noFill/>
          </a:ln>
        </p:spPr>
        <p:txBody>
          <a:bodyPr spcFirstLastPara="1" wrap="square" lIns="0" tIns="0" rIns="0" bIns="0" anchor="t" anchorCtr="0">
            <a:noAutofit/>
          </a:bodyPr>
          <a:lstStyle/>
          <a:p>
            <a:pPr marL="0" marR="0" lvl="0" indent="0" algn="l" rtl="0">
              <a:lnSpc>
                <a:spcPct val="160000"/>
              </a:lnSpc>
              <a:spcBef>
                <a:spcPts val="0"/>
              </a:spcBef>
              <a:spcAft>
                <a:spcPts val="0"/>
              </a:spcAft>
              <a:buClr>
                <a:schemeClr val="dk1"/>
              </a:buClr>
              <a:buSzPts val="1500"/>
              <a:buFont typeface="Calibri"/>
              <a:buNone/>
            </a:pPr>
            <a:endParaRPr sz="1500" b="0" i="0" u="none" strike="noStrike" cap="none">
              <a:solidFill>
                <a:schemeClr val="dk1"/>
              </a:solidFill>
              <a:latin typeface="Times New Roman"/>
              <a:ea typeface="Times New Roman"/>
              <a:cs typeface="Times New Roman"/>
              <a:sym typeface="Times New Roman"/>
            </a:endParaRPr>
          </a:p>
        </p:txBody>
      </p:sp>
      <p:sp>
        <p:nvSpPr>
          <p:cNvPr id="95" name="Google Shape;95;p2"/>
          <p:cNvSpPr txBox="1"/>
          <p:nvPr/>
        </p:nvSpPr>
        <p:spPr>
          <a:xfrm>
            <a:off x="1102321" y="1174639"/>
            <a:ext cx="7426406" cy="451519"/>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002060"/>
              </a:buClr>
              <a:buSzPts val="3200"/>
              <a:buFont typeface="Times New Roman"/>
              <a:buNone/>
            </a:pPr>
            <a:endParaRPr sz="3200" b="1" i="0" u="none" strike="noStrike" cap="none">
              <a:solidFill>
                <a:srgbClr val="002060"/>
              </a:solidFill>
              <a:latin typeface="Times New Roman"/>
              <a:ea typeface="Times New Roman"/>
              <a:cs typeface="Times New Roman"/>
              <a:sym typeface="Times New Roman"/>
            </a:endParaRPr>
          </a:p>
        </p:txBody>
      </p:sp>
      <p:graphicFrame>
        <p:nvGraphicFramePr>
          <p:cNvPr id="96" name="Google Shape;96;p2"/>
          <p:cNvGraphicFramePr/>
          <p:nvPr>
            <p:extLst>
              <p:ext uri="{D42A27DB-BD31-4B8C-83A1-F6EECF244321}">
                <p14:modId xmlns:p14="http://schemas.microsoft.com/office/powerpoint/2010/main" val="968053648"/>
              </p:ext>
            </p:extLst>
          </p:nvPr>
        </p:nvGraphicFramePr>
        <p:xfrm>
          <a:off x="1299257" y="2570011"/>
          <a:ext cx="9394989" cy="2167128"/>
        </p:xfrm>
        <a:graphic>
          <a:graphicData uri="http://schemas.openxmlformats.org/drawingml/2006/table">
            <a:tbl>
              <a:tblPr>
                <a:noFill/>
                <a:tableStyleId>{0AAD8F4D-43EB-41E5-8A38-28AB6DFB1B60}</a:tableStyleId>
              </a:tblPr>
              <a:tblGrid>
                <a:gridCol w="2064867">
                  <a:extLst>
                    <a:ext uri="{9D8B030D-6E8A-4147-A177-3AD203B41FA5}">
                      <a16:colId xmlns:a16="http://schemas.microsoft.com/office/drawing/2014/main" val="20000"/>
                    </a:ext>
                  </a:extLst>
                </a:gridCol>
                <a:gridCol w="2443374">
                  <a:extLst>
                    <a:ext uri="{9D8B030D-6E8A-4147-A177-3AD203B41FA5}">
                      <a16:colId xmlns:a16="http://schemas.microsoft.com/office/drawing/2014/main" val="20002"/>
                    </a:ext>
                  </a:extLst>
                </a:gridCol>
                <a:gridCol w="2443374">
                  <a:extLst>
                    <a:ext uri="{9D8B030D-6E8A-4147-A177-3AD203B41FA5}">
                      <a16:colId xmlns:a16="http://schemas.microsoft.com/office/drawing/2014/main" val="20003"/>
                    </a:ext>
                  </a:extLst>
                </a:gridCol>
                <a:gridCol w="2443374">
                  <a:extLst>
                    <a:ext uri="{9D8B030D-6E8A-4147-A177-3AD203B41FA5}">
                      <a16:colId xmlns:a16="http://schemas.microsoft.com/office/drawing/2014/main" val="20004"/>
                    </a:ext>
                  </a:extLst>
                </a:gridCol>
              </a:tblGrid>
              <a:tr h="973237">
                <a:tc>
                  <a:txBody>
                    <a:bodyPr/>
                    <a:lstStyle/>
                    <a:p>
                      <a:pPr marL="0" marR="0" lvl="0" indent="0" algn="ctr" rtl="0">
                        <a:spcBef>
                          <a:spcPts val="0"/>
                        </a:spcBef>
                        <a:spcAft>
                          <a:spcPts val="0"/>
                        </a:spcAft>
                        <a:buNone/>
                      </a:pPr>
                      <a:r>
                        <a:rPr lang="en-US" sz="1800" u="none" strike="noStrike" cap="none"/>
                        <a:t>Student Name</a:t>
                      </a:r>
                      <a:endParaRPr sz="1800" u="none" strike="noStrike" cap="none"/>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spcBef>
                          <a:spcPts val="0"/>
                        </a:spcBef>
                        <a:spcAft>
                          <a:spcPts val="0"/>
                        </a:spcAft>
                        <a:buNone/>
                      </a:pPr>
                      <a:r>
                        <a:rPr lang="en-US" sz="1800" u="none" strike="noStrike" cap="none"/>
                        <a:t>Recent Passport Photo</a:t>
                      </a:r>
                      <a:endParaRPr sz="1800" u="none" strike="noStrike" cap="none"/>
                    </a:p>
                  </a:txBody>
                  <a:tcPr marL="91450" marR="91450" marT="45725" marB="45725" anchor="ctr">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lgn="ctr">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Arial"/>
                          <a:ea typeface="Calibri"/>
                          <a:cs typeface="Arial"/>
                          <a:sym typeface="Calibri"/>
                        </a:rPr>
                        <a:t>Email ID </a:t>
                      </a:r>
                      <a:endParaRPr sz="1800" b="0" i="0" u="none" strike="noStrike" cap="none">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dirty="0">
                          <a:solidFill>
                            <a:srgbClr val="000000"/>
                          </a:solidFill>
                          <a:latin typeface="Arial"/>
                          <a:ea typeface="Calibri"/>
                          <a:cs typeface="Arial"/>
                          <a:sym typeface="Calibri"/>
                        </a:rPr>
                        <a:t>Mobile number</a:t>
                      </a:r>
                      <a:endParaRPr sz="1800" b="0" i="0" u="none" strike="noStrike" cap="none" dirty="0">
                        <a:solidFill>
                          <a:srgbClr val="000000"/>
                        </a:solidFill>
                        <a:latin typeface="Arial"/>
                        <a:cs typeface="Arial"/>
                        <a:sym typeface="Arial"/>
                      </a:endParaRPr>
                    </a:p>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dirty="0">
                          <a:solidFill>
                            <a:srgbClr val="000000"/>
                          </a:solidFill>
                          <a:latin typeface="Arial"/>
                          <a:ea typeface="Calibri"/>
                          <a:cs typeface="Arial"/>
                          <a:sym typeface="Calibri"/>
                        </a:rPr>
                        <a:t>[WhatsApp] </a:t>
                      </a:r>
                      <a:endParaRPr sz="1800" b="0" i="0" u="none" strike="noStrike" cap="none" dirty="0">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extLst>
                  <a:ext uri="{0D108BD9-81ED-4DB2-BD59-A6C34878D82A}">
                    <a16:rowId xmlns:a16="http://schemas.microsoft.com/office/drawing/2014/main" val="10000"/>
                  </a:ext>
                </a:extLst>
              </a:tr>
              <a:tr h="1193891">
                <a:tc>
                  <a:txBody>
                    <a:bodyPr/>
                    <a:lstStyle/>
                    <a:p>
                      <a:pPr marL="0" marR="0" lvl="0" indent="0" algn="l" rtl="0">
                        <a:spcBef>
                          <a:spcPts val="0"/>
                        </a:spcBef>
                        <a:spcAft>
                          <a:spcPts val="0"/>
                        </a:spcAft>
                        <a:buNone/>
                      </a:pPr>
                      <a:r>
                        <a:rPr lang="en-US" sz="1800" dirty="0"/>
                        <a:t>Renuka Sahu</a:t>
                      </a:r>
                      <a:endParaRPr sz="1800"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r>
                        <a:rPr lang="en-US" sz="1800" dirty="0"/>
                        <a:t>       </a:t>
                      </a:r>
                      <a:endParaRPr sz="1800" dirty="0"/>
                    </a:p>
                  </a:txBody>
                  <a:tcPr marL="91450" marR="91450" marT="45725" marB="45725">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r>
                        <a:rPr lang="en-US" sz="1800" dirty="0"/>
                        <a:t>renukasahu1220@gmail.com</a:t>
                      </a:r>
                      <a:endParaRPr sz="1800"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r>
                        <a:rPr lang="en-US" dirty="0"/>
                        <a:t>+91 6264880772</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extLst>
                  <a:ext uri="{0D108BD9-81ED-4DB2-BD59-A6C34878D82A}">
                    <a16:rowId xmlns:a16="http://schemas.microsoft.com/office/drawing/2014/main" val="10001"/>
                  </a:ext>
                </a:extLst>
              </a:tr>
            </a:tbl>
          </a:graphicData>
        </a:graphic>
      </p:graphicFrame>
      <p:sp>
        <p:nvSpPr>
          <p:cNvPr id="4" name="TextBox 3">
            <a:extLst>
              <a:ext uri="{FF2B5EF4-FFF2-40B4-BE49-F238E27FC236}">
                <a16:creationId xmlns:a16="http://schemas.microsoft.com/office/drawing/2014/main" id="{A828B9EF-C084-F5D4-CA27-75AF7D995640}"/>
              </a:ext>
            </a:extLst>
          </p:cNvPr>
          <p:cNvSpPr txBox="1"/>
          <p:nvPr/>
        </p:nvSpPr>
        <p:spPr>
          <a:xfrm>
            <a:off x="1206164" y="1460724"/>
            <a:ext cx="10280254" cy="523220"/>
          </a:xfrm>
          <a:prstGeom prst="rect">
            <a:avLst/>
          </a:prstGeom>
          <a:noFill/>
        </p:spPr>
        <p:txBody>
          <a:bodyPr wrap="square" rtlCol="0">
            <a:spAutoFit/>
          </a:bodyPr>
          <a:lstStyle/>
          <a:p>
            <a:r>
              <a:rPr lang="en-US" sz="2800" b="1" dirty="0"/>
              <a:t>Domain of  Project – Agriculture </a:t>
            </a:r>
            <a:endParaRPr lang="en-IN" sz="2800" b="1" dirty="0"/>
          </a:p>
        </p:txBody>
      </p:sp>
      <p:sp>
        <p:nvSpPr>
          <p:cNvPr id="7" name="TextBox 6">
            <a:extLst>
              <a:ext uri="{FF2B5EF4-FFF2-40B4-BE49-F238E27FC236}">
                <a16:creationId xmlns:a16="http://schemas.microsoft.com/office/drawing/2014/main" id="{3D723CA3-EC2D-165A-F109-3759C4E9C8A4}"/>
              </a:ext>
            </a:extLst>
          </p:cNvPr>
          <p:cNvSpPr txBox="1"/>
          <p:nvPr/>
        </p:nvSpPr>
        <p:spPr>
          <a:xfrm>
            <a:off x="1206164" y="508212"/>
            <a:ext cx="9581177" cy="523220"/>
          </a:xfrm>
          <a:prstGeom prst="rect">
            <a:avLst/>
          </a:prstGeom>
          <a:noFill/>
        </p:spPr>
        <p:txBody>
          <a:bodyPr wrap="square" rtlCol="0">
            <a:spAutoFit/>
          </a:bodyPr>
          <a:lstStyle/>
          <a:p>
            <a:r>
              <a:rPr lang="en-US" sz="2800" b="1" dirty="0"/>
              <a:t>Project Tile –  </a:t>
            </a:r>
            <a:r>
              <a:rPr lang="en-IN" sz="2800" b="1" dirty="0"/>
              <a:t>AI Agent for Smart Farming Advice</a:t>
            </a:r>
            <a:r>
              <a:rPr lang="en-US" sz="2800" b="1" dirty="0"/>
              <a:t> </a:t>
            </a:r>
            <a:endParaRPr lang="en-IN" sz="2800" b="1" dirty="0">
              <a:highlight>
                <a:srgbClr val="FFFF00"/>
              </a:highlight>
            </a:endParaRPr>
          </a:p>
        </p:txBody>
      </p:sp>
      <p:pic>
        <p:nvPicPr>
          <p:cNvPr id="6" name="Picture 5">
            <a:extLst>
              <a:ext uri="{FF2B5EF4-FFF2-40B4-BE49-F238E27FC236}">
                <a16:creationId xmlns:a16="http://schemas.microsoft.com/office/drawing/2014/main" id="{C5B7ED20-A764-C998-5E16-0C7A91814145}"/>
              </a:ext>
            </a:extLst>
          </p:cNvPr>
          <p:cNvPicPr>
            <a:picLocks noChangeAspect="1"/>
          </p:cNvPicPr>
          <p:nvPr/>
        </p:nvPicPr>
        <p:blipFill>
          <a:blip r:embed="rId3"/>
          <a:stretch>
            <a:fillRect/>
          </a:stretch>
        </p:blipFill>
        <p:spPr>
          <a:xfrm rot="16200000">
            <a:off x="3966581" y="3622940"/>
            <a:ext cx="989860" cy="1013460"/>
          </a:xfrm>
          <a:prstGeom prst="rect">
            <a:avLst/>
          </a:prstGeom>
        </p:spPr>
      </p:pic>
    </p:spTree>
    <p:extLst>
      <p:ext uri="{BB962C8B-B14F-4D97-AF65-F5344CB8AC3E}">
        <p14:creationId xmlns:p14="http://schemas.microsoft.com/office/powerpoint/2010/main" val="95231787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F4C0A7C6-2888-EA53-35AB-4072E6B1FDA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6F6745E-14BA-0766-CE1E-32E29663832D}"/>
              </a:ext>
            </a:extLst>
          </p:cNvPr>
          <p:cNvSpPr txBox="1"/>
          <p:nvPr/>
        </p:nvSpPr>
        <p:spPr>
          <a:xfrm>
            <a:off x="576072" y="1234440"/>
            <a:ext cx="10607040" cy="5478423"/>
          </a:xfrm>
          <a:prstGeom prst="rect">
            <a:avLst/>
          </a:prstGeom>
          <a:noFill/>
        </p:spPr>
        <p:txBody>
          <a:bodyPr wrap="square" rtlCol="0">
            <a:spAutoFit/>
          </a:bodyPr>
          <a:lstStyle/>
          <a:p>
            <a:pPr fontAlgn="base"/>
            <a:r>
              <a:rPr lang="en-US" b="1" dirty="0"/>
              <a:t>Problem Statement : </a:t>
            </a:r>
            <a:r>
              <a:rPr lang="en-IN" b="1" dirty="0"/>
              <a:t>AI Agent for Smart Farming Advice</a:t>
            </a:r>
            <a:endParaRPr lang="en-US" dirty="0"/>
          </a:p>
          <a:p>
            <a:pPr fontAlgn="base"/>
            <a:endParaRPr lang="en-US" b="1" dirty="0"/>
          </a:p>
          <a:p>
            <a:pPr fontAlgn="base"/>
            <a:r>
              <a:rPr lang="en-US" b="1" dirty="0"/>
              <a:t>The Challenge</a:t>
            </a:r>
            <a:r>
              <a:rPr lang="en-US" dirty="0"/>
              <a:t> </a:t>
            </a:r>
          </a:p>
          <a:p>
            <a:pPr fontAlgn="base"/>
            <a:r>
              <a:rPr lang="en-IN" dirty="0"/>
              <a:t>Farmers often struggle with low crop yield, unpredictable weather, pest infestations, and limited access to timely expert advice. Traditional farming advisory services are fragmented, slow, and not personalized to the farmer’s specific land, crop, or climate conditions. With the rise of climate change, data-driven smart farming solutions are needed to empower farmers with actionable insights.</a:t>
            </a:r>
            <a:r>
              <a:rPr lang="en-US" dirty="0"/>
              <a:t> </a:t>
            </a:r>
          </a:p>
          <a:p>
            <a:pPr fontAlgn="base"/>
            <a:endParaRPr lang="en-US" dirty="0"/>
          </a:p>
          <a:p>
            <a:pPr fontAlgn="base"/>
            <a:r>
              <a:rPr lang="en-US" b="1" dirty="0"/>
              <a:t>The Objective</a:t>
            </a:r>
            <a:r>
              <a:rPr lang="en-US" dirty="0"/>
              <a:t> </a:t>
            </a:r>
          </a:p>
          <a:p>
            <a:r>
              <a:rPr lang="en-IN" dirty="0"/>
              <a:t>Develop an AI-powered Smart Farming Agent that provides personalized, real-time, and sustainable agricultural advice. The solution should:</a:t>
            </a:r>
            <a:endParaRPr lang="en-US" dirty="0"/>
          </a:p>
          <a:p>
            <a:pPr lvl="0"/>
            <a:r>
              <a:rPr lang="en-IN" b="1" dirty="0"/>
              <a:t>Agricultural Knowledge Retrieval (RAG) –</a:t>
            </a:r>
            <a:r>
              <a:rPr lang="en-IN" dirty="0"/>
              <a:t> Use Retrieval-Augmented Generation to fetch best practices, crop-specific guidelines,   and government advisory updates.</a:t>
            </a:r>
            <a:endParaRPr lang="en-US" dirty="0"/>
          </a:p>
          <a:p>
            <a:pPr lvl="0"/>
            <a:r>
              <a:rPr lang="en-IN" b="1" dirty="0"/>
              <a:t>Weather &amp; Soil Insights</a:t>
            </a:r>
            <a:r>
              <a:rPr lang="en-IN" dirty="0"/>
              <a:t> – Integrate real-time weather forecasts, soil health data, and irrigation needs to optimize farm planning.</a:t>
            </a:r>
            <a:endParaRPr lang="en-US" dirty="0"/>
          </a:p>
          <a:p>
            <a:pPr lvl="0"/>
            <a:r>
              <a:rPr lang="en-IN" b="1" dirty="0"/>
              <a:t>Pest &amp; Disease Detection –</a:t>
            </a:r>
            <a:r>
              <a:rPr lang="en-IN" dirty="0"/>
              <a:t> Enable multimodal support where farmers upload crop images for early pest/disease identification and get instant recommendations.</a:t>
            </a:r>
            <a:endParaRPr lang="en-US" dirty="0"/>
          </a:p>
          <a:p>
            <a:pPr lvl="0"/>
            <a:r>
              <a:rPr lang="en-IN" b="1" dirty="0"/>
              <a:t>Personalized Advisory Agent –</a:t>
            </a:r>
            <a:r>
              <a:rPr lang="en-IN" dirty="0"/>
              <a:t> Suggest seeds, fertilizers, irrigation schedules, and harvesting timelines based on farmer profile and land conditions.</a:t>
            </a:r>
            <a:endParaRPr lang="en-US" dirty="0"/>
          </a:p>
          <a:p>
            <a:pPr lvl="0"/>
            <a:r>
              <a:rPr lang="en-IN" b="1" dirty="0"/>
              <a:t>Market &amp; Cost Optimization –</a:t>
            </a:r>
            <a:r>
              <a:rPr lang="en-IN" dirty="0"/>
              <a:t> Forecast demand, suggest market prices, and recommend cost-efficient practices for better income.</a:t>
            </a:r>
            <a:endParaRPr lang="en-US" dirty="0"/>
          </a:p>
          <a:p>
            <a:pPr lvl="0"/>
            <a:r>
              <a:rPr lang="en-IN" b="1" dirty="0"/>
              <a:t>Multi-Agent Collaboration –</a:t>
            </a:r>
            <a:endParaRPr lang="en-US" dirty="0"/>
          </a:p>
          <a:p>
            <a:pPr marL="285750" lvl="1" indent="-285750">
              <a:buFont typeface="Arial" panose="020B0604020202020204" pitchFamily="34" charset="0"/>
              <a:buChar char="•"/>
            </a:pPr>
            <a:r>
              <a:rPr lang="en-IN" dirty="0"/>
              <a:t>Crop Advisory Agent</a:t>
            </a:r>
            <a:endParaRPr lang="en-US" dirty="0"/>
          </a:p>
          <a:p>
            <a:pPr marL="285750" lvl="1" indent="-285750">
              <a:buFont typeface="Arial" panose="020B0604020202020204" pitchFamily="34" charset="0"/>
              <a:buChar char="•"/>
            </a:pPr>
            <a:r>
              <a:rPr lang="en-IN" dirty="0"/>
              <a:t>Weather &amp; Irrigation Agent</a:t>
            </a:r>
            <a:endParaRPr lang="en-US" dirty="0"/>
          </a:p>
          <a:p>
            <a:pPr marL="285750" lvl="1" indent="-285750">
              <a:buFont typeface="Arial" panose="020B0604020202020204" pitchFamily="34" charset="0"/>
              <a:buChar char="•"/>
            </a:pPr>
            <a:r>
              <a:rPr lang="en-IN" dirty="0"/>
              <a:t>Pest/Disease Detection Agent</a:t>
            </a:r>
            <a:endParaRPr lang="en-US" dirty="0"/>
          </a:p>
          <a:p>
            <a:pPr marL="285750" lvl="1" indent="-285750">
              <a:buFont typeface="Arial" panose="020B0604020202020204" pitchFamily="34" charset="0"/>
              <a:buChar char="•"/>
            </a:pPr>
            <a:r>
              <a:rPr lang="en-IN" dirty="0"/>
              <a:t>Market Insights Agent</a:t>
            </a:r>
            <a:endParaRPr lang="en-US" dirty="0"/>
          </a:p>
          <a:p>
            <a:endParaRPr lang="en-IN" dirty="0"/>
          </a:p>
        </p:txBody>
      </p:sp>
      <p:sp>
        <p:nvSpPr>
          <p:cNvPr id="3" name="TextBox 2">
            <a:extLst>
              <a:ext uri="{FF2B5EF4-FFF2-40B4-BE49-F238E27FC236}">
                <a16:creationId xmlns:a16="http://schemas.microsoft.com/office/drawing/2014/main" id="{3847FA31-EA47-D27A-9D69-AF50A3080AEC}"/>
              </a:ext>
            </a:extLst>
          </p:cNvPr>
          <p:cNvSpPr txBox="1"/>
          <p:nvPr/>
        </p:nvSpPr>
        <p:spPr>
          <a:xfrm>
            <a:off x="576072" y="704088"/>
            <a:ext cx="7214616" cy="461665"/>
          </a:xfrm>
          <a:prstGeom prst="rect">
            <a:avLst/>
          </a:prstGeom>
          <a:noFill/>
        </p:spPr>
        <p:txBody>
          <a:bodyPr wrap="square" rtlCol="0">
            <a:spAutoFit/>
          </a:bodyPr>
          <a:lstStyle/>
          <a:p>
            <a:r>
              <a:rPr lang="en-US" sz="2400" b="1"/>
              <a:t>Problem Statement -</a:t>
            </a:r>
            <a:endParaRPr lang="en-IN" sz="2400" b="1"/>
          </a:p>
        </p:txBody>
      </p:sp>
    </p:spTree>
    <p:extLst>
      <p:ext uri="{BB962C8B-B14F-4D97-AF65-F5344CB8AC3E}">
        <p14:creationId xmlns:p14="http://schemas.microsoft.com/office/powerpoint/2010/main" val="26165337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0471B467-61AA-7BCA-460D-43041E805F9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A1BF701-ABCA-4DF0-8330-B6AF71EF8E39}"/>
              </a:ext>
            </a:extLst>
          </p:cNvPr>
          <p:cNvSpPr txBox="1"/>
          <p:nvPr/>
        </p:nvSpPr>
        <p:spPr>
          <a:xfrm>
            <a:off x="576072" y="1234440"/>
            <a:ext cx="10607040" cy="5416868"/>
          </a:xfrm>
          <a:prstGeom prst="rect">
            <a:avLst/>
          </a:prstGeom>
          <a:noFill/>
        </p:spPr>
        <p:txBody>
          <a:bodyPr wrap="square" rtlCol="0">
            <a:spAutoFit/>
          </a:bodyPr>
          <a:lstStyle/>
          <a:p>
            <a:pPr fontAlgn="base"/>
            <a:endParaRPr lang="en-US" b="1" dirty="0"/>
          </a:p>
          <a:p>
            <a:r>
              <a:rPr lang="en-US" sz="1600" b="1" dirty="0"/>
              <a:t>Proposed Solution — </a:t>
            </a:r>
            <a:r>
              <a:rPr lang="en-US" sz="1600" b="1" dirty="0" err="1"/>
              <a:t>FarmTwin</a:t>
            </a:r>
            <a:r>
              <a:rPr lang="en-US" sz="1600" b="1" dirty="0"/>
              <a:t> AI</a:t>
            </a:r>
          </a:p>
          <a:p>
            <a:r>
              <a:rPr lang="en-US" sz="1600" b="1" dirty="0" err="1"/>
              <a:t>FarmTwin</a:t>
            </a:r>
            <a:r>
              <a:rPr lang="en-US" sz="1600" b="1" dirty="0"/>
              <a:t> AI – AI-Powered Digital Twin for Smart Farming</a:t>
            </a:r>
          </a:p>
          <a:p>
            <a:r>
              <a:rPr lang="en-US" sz="1600" b="1" dirty="0" err="1"/>
              <a:t>FarmTwin</a:t>
            </a:r>
            <a:r>
              <a:rPr lang="en-US" sz="1600" b="1" dirty="0"/>
              <a:t> AI</a:t>
            </a:r>
            <a:r>
              <a:rPr lang="en-US" sz="1600" dirty="0"/>
              <a:t> is a multi-agent intelligent farming platform that creates a </a:t>
            </a:r>
            <a:r>
              <a:rPr lang="en-US" sz="1600" b="1" dirty="0"/>
              <a:t>digital twin of the farmer's field</a:t>
            </a:r>
            <a:r>
              <a:rPr lang="en-US" sz="1600" dirty="0"/>
              <a:t> by combining crop, soil, weather, pest/disease and market data. It uses </a:t>
            </a:r>
            <a:r>
              <a:rPr lang="en-US" sz="1600" b="1" dirty="0"/>
              <a:t>IBM Granite, </a:t>
            </a:r>
            <a:r>
              <a:rPr lang="en-US" sz="1600" b="1" dirty="0" err="1"/>
              <a:t>Langflow</a:t>
            </a:r>
            <a:r>
              <a:rPr lang="en-US" sz="1600" b="1" dirty="0"/>
              <a:t> and </a:t>
            </a:r>
            <a:r>
              <a:rPr lang="en-US" sz="1600" b="1" dirty="0" err="1"/>
              <a:t>watsonx</a:t>
            </a:r>
            <a:r>
              <a:rPr lang="en-US" sz="1600" b="1" dirty="0"/>
              <a:t> Orchestrate</a:t>
            </a:r>
            <a:r>
              <a:rPr lang="en-US" sz="1600" dirty="0"/>
              <a:t> to analyze farm conditions and provide personalized, real-time and actionable recommendations.</a:t>
            </a:r>
          </a:p>
          <a:p>
            <a:r>
              <a:rPr lang="en-US" sz="1600" b="1" u="sng" dirty="0"/>
              <a:t>Key Solution Components</a:t>
            </a:r>
          </a:p>
          <a:p>
            <a:pPr marL="285750" lvl="0" indent="-285750">
              <a:buFont typeface="Arial" panose="020B0604020202020204" pitchFamily="34" charset="0"/>
              <a:buChar char="•"/>
            </a:pPr>
            <a:r>
              <a:rPr lang="en-US" sz="1600" b="1" dirty="0"/>
              <a:t>Crop Advisory Agent</a:t>
            </a:r>
            <a:r>
              <a:rPr lang="en-US" sz="1600" dirty="0"/>
              <a:t> – Recommends suitable crops, seeds, fertilizers and harvesting schedules. </a:t>
            </a:r>
          </a:p>
          <a:p>
            <a:pPr marL="285750" lvl="0" indent="-285750">
              <a:buFont typeface="Arial" panose="020B0604020202020204" pitchFamily="34" charset="0"/>
              <a:buChar char="•"/>
            </a:pPr>
            <a:r>
              <a:rPr lang="en-US" sz="1600" dirty="0"/>
              <a:t> </a:t>
            </a:r>
            <a:r>
              <a:rPr lang="en-US" sz="1600" b="1" dirty="0"/>
              <a:t>Weather &amp; Irrigation Agent</a:t>
            </a:r>
            <a:r>
              <a:rPr lang="en-US" sz="1600" dirty="0"/>
              <a:t> – Analyzes weather and soil moisture to optimize irrigation and reduce water    wastage. </a:t>
            </a:r>
          </a:p>
          <a:p>
            <a:pPr marL="285750" lvl="0" indent="-285750">
              <a:buFont typeface="Arial" panose="020B0604020202020204" pitchFamily="34" charset="0"/>
              <a:buChar char="•"/>
            </a:pPr>
            <a:r>
              <a:rPr lang="en-US" sz="1600" dirty="0"/>
              <a:t> </a:t>
            </a:r>
            <a:r>
              <a:rPr lang="en-US" sz="1600" b="1" dirty="0"/>
              <a:t>Pest &amp; Disease Agent</a:t>
            </a:r>
            <a:r>
              <a:rPr lang="en-US" sz="1600" dirty="0"/>
              <a:t> – Uses crop images and IBM Granite Vision to identify possible diseases/pests and suggest preventive actions. </a:t>
            </a:r>
          </a:p>
          <a:p>
            <a:pPr marL="285750" lvl="0" indent="-285750">
              <a:buFont typeface="Arial" panose="020B0604020202020204" pitchFamily="34" charset="0"/>
              <a:buChar char="•"/>
            </a:pPr>
            <a:r>
              <a:rPr lang="en-US" sz="1600" dirty="0"/>
              <a:t> </a:t>
            </a:r>
            <a:r>
              <a:rPr lang="en-US" sz="1600" b="1" dirty="0"/>
              <a:t>Market Insights Agent</a:t>
            </a:r>
            <a:r>
              <a:rPr lang="en-US" sz="1600" dirty="0"/>
              <a:t> – Analyzes market prices, yield and production costs to identify profitable selling opportunities. </a:t>
            </a:r>
          </a:p>
          <a:p>
            <a:pPr marL="285750" lvl="0" indent="-285750">
              <a:buFont typeface="Arial" panose="020B0604020202020204" pitchFamily="34" charset="0"/>
              <a:buChar char="•"/>
            </a:pPr>
            <a:r>
              <a:rPr lang="en-US" sz="1600" dirty="0"/>
              <a:t> </a:t>
            </a:r>
            <a:r>
              <a:rPr lang="en-US" sz="1600" b="1" dirty="0" err="1"/>
              <a:t>FarmTwin</a:t>
            </a:r>
            <a:r>
              <a:rPr lang="en-US" sz="1600" b="1" dirty="0"/>
              <a:t> Decision Engine</a:t>
            </a:r>
            <a:r>
              <a:rPr lang="en-US" sz="1600" dirty="0"/>
              <a:t> – Combines insights from all agents to generate a single personalized </a:t>
            </a:r>
            <a:r>
              <a:rPr lang="en-US" sz="1600" b="1" dirty="0"/>
              <a:t>Farm </a:t>
            </a:r>
            <a:r>
              <a:rPr lang="en-US" sz="1600" dirty="0"/>
              <a:t>Action Plan. </a:t>
            </a:r>
          </a:p>
          <a:p>
            <a:pPr marL="285750" lvl="0" indent="-285750">
              <a:buFont typeface="Arial" panose="020B0604020202020204" pitchFamily="34" charset="0"/>
              <a:buChar char="•"/>
            </a:pPr>
            <a:r>
              <a:rPr lang="en-US" sz="1600" dirty="0"/>
              <a:t> </a:t>
            </a:r>
            <a:r>
              <a:rPr lang="en-US" sz="1600" b="1" dirty="0"/>
              <a:t>RAG Knowledge System</a:t>
            </a:r>
            <a:r>
              <a:rPr lang="en-US" sz="1600" dirty="0"/>
              <a:t> – Retrieves reliable agricultural guidelines and government advisories before generating recommendations. </a:t>
            </a:r>
          </a:p>
          <a:p>
            <a:pPr marL="285750" lvl="0" indent="-285750">
              <a:buFont typeface="Arial" panose="020B0604020202020204" pitchFamily="34" charset="0"/>
              <a:buChar char="•"/>
            </a:pPr>
            <a:r>
              <a:rPr lang="en-US" sz="1600" dirty="0"/>
              <a:t> </a:t>
            </a:r>
            <a:r>
              <a:rPr lang="en-US" sz="1600" b="1" dirty="0"/>
              <a:t>What-If Simulator</a:t>
            </a:r>
            <a:r>
              <a:rPr lang="en-US" sz="1600" dirty="0"/>
              <a:t> – Allows farmers to test decisions such as reducing irrigation, changing fertilizer or delaying harvest and see the expected impact on yield, cost, profit and sustainability.</a:t>
            </a:r>
          </a:p>
          <a:p>
            <a:pPr marL="285750" indent="-285750" fontAlgn="base">
              <a:buFont typeface="Arial" panose="020B0604020202020204" pitchFamily="34" charset="0"/>
              <a:buChar char="•"/>
            </a:pPr>
            <a:endParaRPr lang="en-US" dirty="0"/>
          </a:p>
          <a:p>
            <a:endParaRPr lang="en-IN" dirty="0"/>
          </a:p>
        </p:txBody>
      </p:sp>
      <p:sp>
        <p:nvSpPr>
          <p:cNvPr id="3" name="TextBox 2">
            <a:extLst>
              <a:ext uri="{FF2B5EF4-FFF2-40B4-BE49-F238E27FC236}">
                <a16:creationId xmlns:a16="http://schemas.microsoft.com/office/drawing/2014/main" id="{527F30CC-07EF-8FCC-DA00-C9212F5DAECE}"/>
              </a:ext>
            </a:extLst>
          </p:cNvPr>
          <p:cNvSpPr txBox="1"/>
          <p:nvPr/>
        </p:nvSpPr>
        <p:spPr>
          <a:xfrm>
            <a:off x="576072" y="704088"/>
            <a:ext cx="7214616" cy="461665"/>
          </a:xfrm>
          <a:prstGeom prst="rect">
            <a:avLst/>
          </a:prstGeom>
          <a:noFill/>
        </p:spPr>
        <p:txBody>
          <a:bodyPr wrap="square" rtlCol="0">
            <a:spAutoFit/>
          </a:bodyPr>
          <a:lstStyle/>
          <a:p>
            <a:r>
              <a:rPr lang="en-US" sz="2400" b="1"/>
              <a:t>Proposed Solution -</a:t>
            </a:r>
            <a:endParaRPr lang="en-IN" sz="2400" b="1"/>
          </a:p>
        </p:txBody>
      </p:sp>
    </p:spTree>
    <p:extLst>
      <p:ext uri="{BB962C8B-B14F-4D97-AF65-F5344CB8AC3E}">
        <p14:creationId xmlns:p14="http://schemas.microsoft.com/office/powerpoint/2010/main" val="61945990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7C2A09DE-0AE2-AA94-B2C1-84FDBDB9DC6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51FBD4A-3273-E454-091D-D5B0678FC299}"/>
              </a:ext>
            </a:extLst>
          </p:cNvPr>
          <p:cNvSpPr txBox="1"/>
          <p:nvPr/>
        </p:nvSpPr>
        <p:spPr>
          <a:xfrm>
            <a:off x="777240" y="492252"/>
            <a:ext cx="7123176" cy="461665"/>
          </a:xfrm>
          <a:prstGeom prst="rect">
            <a:avLst/>
          </a:prstGeom>
          <a:noFill/>
        </p:spPr>
        <p:txBody>
          <a:bodyPr wrap="square" lIns="91440" tIns="45720" rIns="91440" bIns="45720" rtlCol="0" anchor="t">
            <a:spAutoFit/>
          </a:bodyPr>
          <a:lstStyle/>
          <a:p>
            <a:r>
              <a:rPr lang="en-US" sz="2400" b="1" dirty="0"/>
              <a:t>Technology Used</a:t>
            </a:r>
            <a:endParaRPr lang="en-IN" sz="2400" b="1" dirty="0"/>
          </a:p>
        </p:txBody>
      </p:sp>
      <p:sp>
        <p:nvSpPr>
          <p:cNvPr id="3" name="TextBox 2">
            <a:extLst>
              <a:ext uri="{FF2B5EF4-FFF2-40B4-BE49-F238E27FC236}">
                <a16:creationId xmlns:a16="http://schemas.microsoft.com/office/drawing/2014/main" id="{4A7608B5-9906-EFCF-959A-E89FC2E3EE19}"/>
              </a:ext>
            </a:extLst>
          </p:cNvPr>
          <p:cNvSpPr txBox="1"/>
          <p:nvPr/>
        </p:nvSpPr>
        <p:spPr>
          <a:xfrm>
            <a:off x="777240" y="1207008"/>
            <a:ext cx="10515600" cy="4801314"/>
          </a:xfrm>
          <a:prstGeom prst="rect">
            <a:avLst/>
          </a:prstGeom>
          <a:noFill/>
        </p:spPr>
        <p:txBody>
          <a:bodyPr wrap="square" rtlCol="0">
            <a:spAutoFit/>
          </a:bodyPr>
          <a:lstStyle/>
          <a:p>
            <a:pPr marL="285750" lvl="0" indent="-285750">
              <a:buFont typeface="Arial" panose="020B0604020202020204" pitchFamily="34" charset="0"/>
              <a:buChar char="•"/>
            </a:pPr>
            <a:r>
              <a:rPr lang="en-US" sz="2000" b="1" dirty="0"/>
              <a:t>IBM Bob Platform</a:t>
            </a:r>
            <a:r>
              <a:rPr lang="en-US" sz="2000" dirty="0"/>
              <a:t> – For designing and orchestrating the multi-agent farming workflow. </a:t>
            </a:r>
          </a:p>
          <a:p>
            <a:pPr marL="285750" lvl="0" indent="-285750">
              <a:buFont typeface="Arial" panose="020B0604020202020204" pitchFamily="34" charset="0"/>
              <a:buChar char="•"/>
            </a:pPr>
            <a:r>
              <a:rPr lang="en-US" sz="2000" b="1" dirty="0"/>
              <a:t>IBM Granite Models</a:t>
            </a:r>
            <a:r>
              <a:rPr lang="en-US" sz="2000" dirty="0"/>
              <a:t> – For AI reasoning, personalized recommendations, and crop-image analysis. </a:t>
            </a:r>
          </a:p>
          <a:p>
            <a:pPr marL="285750" lvl="0" indent="-285750">
              <a:buFont typeface="Arial" panose="020B0604020202020204" pitchFamily="34" charset="0"/>
              <a:buChar char="•"/>
            </a:pPr>
            <a:r>
              <a:rPr lang="en-US" sz="2000" b="1" dirty="0"/>
              <a:t>IBM </a:t>
            </a:r>
            <a:r>
              <a:rPr lang="en-US" sz="2000" b="1" dirty="0" err="1"/>
              <a:t>Langflow</a:t>
            </a:r>
            <a:r>
              <a:rPr lang="en-US" sz="2000" dirty="0"/>
              <a:t> – For building the RAG pipeline and retrieving reliable agricultural knowledge. </a:t>
            </a:r>
          </a:p>
          <a:p>
            <a:pPr marL="285750" lvl="0" indent="-285750">
              <a:buFont typeface="Arial" panose="020B0604020202020204" pitchFamily="34" charset="0"/>
              <a:buChar char="•"/>
            </a:pPr>
            <a:r>
              <a:rPr lang="en-US" sz="2000" b="1" dirty="0"/>
              <a:t>IBM </a:t>
            </a:r>
            <a:r>
              <a:rPr lang="en-US" sz="2000" b="1" dirty="0" err="1"/>
              <a:t>watsonx</a:t>
            </a:r>
            <a:r>
              <a:rPr lang="en-US" sz="2000" b="1" dirty="0"/>
              <a:t> Orchestrate</a:t>
            </a:r>
            <a:r>
              <a:rPr lang="en-US" sz="2000" dirty="0"/>
              <a:t> – For coordinating Crop, Weather, Pest/Disease, and Market AI Agents. </a:t>
            </a:r>
          </a:p>
          <a:p>
            <a:pPr marL="285750" lvl="0" indent="-285750">
              <a:buFont typeface="Arial" panose="020B0604020202020204" pitchFamily="34" charset="0"/>
              <a:buChar char="•"/>
            </a:pPr>
            <a:r>
              <a:rPr lang="en-US" sz="2000" b="1" dirty="0"/>
              <a:t>IBM watsonx.ai</a:t>
            </a:r>
            <a:r>
              <a:rPr lang="en-US" sz="2000" dirty="0"/>
              <a:t> – For IBM model deployment, embeddings, inference, and AI capabilities. </a:t>
            </a:r>
          </a:p>
          <a:p>
            <a:pPr marL="285750" lvl="0" indent="-285750">
              <a:buFont typeface="Arial" panose="020B0604020202020204" pitchFamily="34" charset="0"/>
              <a:buChar char="•"/>
            </a:pPr>
            <a:r>
              <a:rPr lang="en-US" sz="2000" b="1" dirty="0"/>
              <a:t>Python &amp; </a:t>
            </a:r>
            <a:r>
              <a:rPr lang="en-US" sz="2000" b="1" dirty="0" err="1"/>
              <a:t>FastAPI</a:t>
            </a:r>
            <a:r>
              <a:rPr lang="en-US" sz="2000" dirty="0"/>
              <a:t> – For backend development, REST APIs, decision engine, and farm calculations. </a:t>
            </a:r>
          </a:p>
          <a:p>
            <a:pPr marL="285750" lvl="0" indent="-285750">
              <a:buFont typeface="Arial" panose="020B0604020202020204" pitchFamily="34" charset="0"/>
              <a:buChar char="•"/>
            </a:pPr>
            <a:r>
              <a:rPr lang="en-US" sz="2000" b="1" dirty="0"/>
              <a:t>SQLite + HTML/CSS/JavaScript</a:t>
            </a:r>
            <a:r>
              <a:rPr lang="en-US" sz="2000" dirty="0"/>
              <a:t> – For data storage and building the interactive Smart Farming dashboard.</a:t>
            </a:r>
          </a:p>
          <a:p>
            <a:endParaRPr lang="en-US" sz="1800" dirty="0"/>
          </a:p>
          <a:p>
            <a:endParaRPr lang="en-US" dirty="0"/>
          </a:p>
          <a:p>
            <a:endParaRPr lang="en-IN" dirty="0"/>
          </a:p>
        </p:txBody>
      </p:sp>
    </p:spTree>
    <p:extLst>
      <p:ext uri="{BB962C8B-B14F-4D97-AF65-F5344CB8AC3E}">
        <p14:creationId xmlns:p14="http://schemas.microsoft.com/office/powerpoint/2010/main" val="44360390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1">
          <a:extLst>
            <a:ext uri="{FF2B5EF4-FFF2-40B4-BE49-F238E27FC236}">
              <a16:creationId xmlns:a16="http://schemas.microsoft.com/office/drawing/2014/main" id="{DA90E1CE-15F0-3043-A4DB-FB65A93E0FBD}"/>
            </a:ext>
          </a:extLst>
        </p:cNvPr>
        <p:cNvGrpSpPr/>
        <p:nvPr/>
      </p:nvGrpSpPr>
      <p:grpSpPr>
        <a:xfrm>
          <a:off x="0" y="0"/>
          <a:ext cx="0" cy="0"/>
          <a:chOff x="0" y="0"/>
          <a:chExt cx="0" cy="0"/>
        </a:xfrm>
      </p:grpSpPr>
      <p:sp>
        <p:nvSpPr>
          <p:cNvPr id="135" name="Google Shape;135;p5">
            <a:extLst>
              <a:ext uri="{FF2B5EF4-FFF2-40B4-BE49-F238E27FC236}">
                <a16:creationId xmlns:a16="http://schemas.microsoft.com/office/drawing/2014/main" id="{2D72A0F8-C86D-B864-A186-AC3D70E33A10}"/>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2400" b="1">
                <a:sym typeface="Times New Roman"/>
              </a:rPr>
              <a:t>Required Files created using IBM bob -</a:t>
            </a:r>
            <a:endParaRPr sz="2400" b="1">
              <a:sym typeface="Times New Roman"/>
            </a:endParaRPr>
          </a:p>
        </p:txBody>
      </p:sp>
      <p:sp>
        <p:nvSpPr>
          <p:cNvPr id="148" name="Google Shape;148;p5">
            <a:extLst>
              <a:ext uri="{FF2B5EF4-FFF2-40B4-BE49-F238E27FC236}">
                <a16:creationId xmlns:a16="http://schemas.microsoft.com/office/drawing/2014/main" id="{42F23231-FD79-17D2-8374-5459B56F71C3}"/>
              </a:ext>
            </a:extLst>
          </p:cNvPr>
          <p:cNvSpPr/>
          <p:nvPr/>
        </p:nvSpPr>
        <p:spPr>
          <a:xfrm>
            <a:off x="2264331" y="6784578"/>
            <a:ext cx="2140744"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49" name="Google Shape;149;p5">
            <a:extLst>
              <a:ext uri="{FF2B5EF4-FFF2-40B4-BE49-F238E27FC236}">
                <a16:creationId xmlns:a16="http://schemas.microsoft.com/office/drawing/2014/main" id="{F78CB5D7-E876-037A-A739-DB61C9BA24DF}"/>
              </a:ext>
            </a:extLst>
          </p:cNvPr>
          <p:cNvSpPr/>
          <p:nvPr/>
        </p:nvSpPr>
        <p:spPr>
          <a:xfrm>
            <a:off x="1782604"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0" name="Google Shape;150;p5">
            <a:extLst>
              <a:ext uri="{FF2B5EF4-FFF2-40B4-BE49-F238E27FC236}">
                <a16:creationId xmlns:a16="http://schemas.microsoft.com/office/drawing/2014/main" id="{5C2B8321-6F35-7D47-22F5-4E76CD0AD2E3}"/>
              </a:ext>
            </a:extLst>
          </p:cNvPr>
          <p:cNvSpPr/>
          <p:nvPr/>
        </p:nvSpPr>
        <p:spPr>
          <a:xfrm>
            <a:off x="5732383"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1" name="Google Shape;151;p5">
            <a:extLst>
              <a:ext uri="{FF2B5EF4-FFF2-40B4-BE49-F238E27FC236}">
                <a16:creationId xmlns:a16="http://schemas.microsoft.com/office/drawing/2014/main" id="{99AA6164-D013-217B-D5FE-4C9E99E3709E}"/>
              </a:ext>
            </a:extLst>
          </p:cNvPr>
          <p:cNvSpPr/>
          <p:nvPr/>
        </p:nvSpPr>
        <p:spPr>
          <a:xfrm>
            <a:off x="5077301"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2" name="Google Shape;152;p5">
            <a:extLst>
              <a:ext uri="{FF2B5EF4-FFF2-40B4-BE49-F238E27FC236}">
                <a16:creationId xmlns:a16="http://schemas.microsoft.com/office/drawing/2014/main" id="{C5B7C21C-9D81-A1A0-5BFA-774447738F37}"/>
              </a:ext>
            </a:extLst>
          </p:cNvPr>
          <p:cNvSpPr/>
          <p:nvPr/>
        </p:nvSpPr>
        <p:spPr>
          <a:xfrm>
            <a:off x="9027081"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3" name="Google Shape;153;p5">
            <a:extLst>
              <a:ext uri="{FF2B5EF4-FFF2-40B4-BE49-F238E27FC236}">
                <a16:creationId xmlns:a16="http://schemas.microsoft.com/office/drawing/2014/main" id="{AE485C63-EE81-7A59-41BA-06FE7A900ABB}"/>
              </a:ext>
            </a:extLst>
          </p:cNvPr>
          <p:cNvSpPr/>
          <p:nvPr/>
        </p:nvSpPr>
        <p:spPr>
          <a:xfrm>
            <a:off x="8371999"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784FE60E-4BB8-3E43-821E-AE3D5BAFCA3B}"/>
              </a:ext>
            </a:extLst>
          </p:cNvPr>
          <p:cNvSpPr txBox="1"/>
          <p:nvPr/>
        </p:nvSpPr>
        <p:spPr>
          <a:xfrm>
            <a:off x="474823" y="863188"/>
            <a:ext cx="1860874" cy="448508"/>
          </a:xfrm>
          <a:prstGeom prst="rect">
            <a:avLst/>
          </a:prstGeom>
          <a:noFill/>
        </p:spPr>
        <p:txBody>
          <a:bodyPr wrap="square" rtlCol="0">
            <a:noAutofit/>
          </a:bodyPr>
          <a:lstStyle/>
          <a:p>
            <a:r>
              <a:rPr lang="en-US" sz="1800" dirty="0"/>
              <a:t>Style.css </a:t>
            </a:r>
          </a:p>
          <a:p>
            <a:endParaRPr lang="en-US" sz="1800"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r>
              <a:rPr lang="en-US" dirty="0"/>
              <a:t> </a:t>
            </a:r>
            <a:endParaRPr lang="en-IN" dirty="0"/>
          </a:p>
        </p:txBody>
      </p:sp>
      <p:pic>
        <p:nvPicPr>
          <p:cNvPr id="5" name="Picture 4">
            <a:extLst>
              <a:ext uri="{FF2B5EF4-FFF2-40B4-BE49-F238E27FC236}">
                <a16:creationId xmlns:a16="http://schemas.microsoft.com/office/drawing/2014/main" id="{37D894FA-D107-34E6-6FC6-FA2C958401E6}"/>
              </a:ext>
            </a:extLst>
          </p:cNvPr>
          <p:cNvPicPr>
            <a:picLocks noChangeAspect="1"/>
          </p:cNvPicPr>
          <p:nvPr/>
        </p:nvPicPr>
        <p:blipFill>
          <a:blip r:embed="rId3"/>
          <a:stretch>
            <a:fillRect/>
          </a:stretch>
        </p:blipFill>
        <p:spPr>
          <a:xfrm>
            <a:off x="1062681" y="1178011"/>
            <a:ext cx="7964399" cy="5382253"/>
          </a:xfrm>
          <a:prstGeom prst="rect">
            <a:avLst/>
          </a:prstGeom>
        </p:spPr>
      </p:pic>
    </p:spTree>
    <p:extLst>
      <p:ext uri="{BB962C8B-B14F-4D97-AF65-F5344CB8AC3E}">
        <p14:creationId xmlns:p14="http://schemas.microsoft.com/office/powerpoint/2010/main" val="28541568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46898C-3759-1657-7467-233D34BF58E6}"/>
              </a:ext>
            </a:extLst>
          </p:cNvPr>
          <p:cNvSpPr>
            <a:spLocks noGrp="1"/>
          </p:cNvSpPr>
          <p:nvPr>
            <p:ph type="title"/>
          </p:nvPr>
        </p:nvSpPr>
        <p:spPr>
          <a:xfrm>
            <a:off x="345989" y="189471"/>
            <a:ext cx="4843849" cy="700216"/>
          </a:xfrm>
        </p:spPr>
        <p:txBody>
          <a:bodyPr>
            <a:noAutofit/>
          </a:bodyPr>
          <a:lstStyle/>
          <a:p>
            <a:r>
              <a:rPr lang="en-US" sz="2400" dirty="0"/>
              <a:t>Requirements.txt</a:t>
            </a:r>
            <a:br>
              <a:rPr lang="en-US" sz="2400" dirty="0"/>
            </a:br>
            <a:endParaRPr lang="en-US" sz="2400" dirty="0"/>
          </a:p>
        </p:txBody>
      </p:sp>
      <p:pic>
        <p:nvPicPr>
          <p:cNvPr id="5" name="Picture 4">
            <a:extLst>
              <a:ext uri="{FF2B5EF4-FFF2-40B4-BE49-F238E27FC236}">
                <a16:creationId xmlns:a16="http://schemas.microsoft.com/office/drawing/2014/main" id="{E7880FD7-FBAB-3FE3-8D3C-1483E9624C57}"/>
              </a:ext>
            </a:extLst>
          </p:cNvPr>
          <p:cNvPicPr>
            <a:picLocks noChangeAspect="1"/>
          </p:cNvPicPr>
          <p:nvPr/>
        </p:nvPicPr>
        <p:blipFill>
          <a:blip r:embed="rId2"/>
          <a:stretch>
            <a:fillRect/>
          </a:stretch>
        </p:blipFill>
        <p:spPr>
          <a:xfrm>
            <a:off x="741406" y="832022"/>
            <a:ext cx="8148594" cy="5675870"/>
          </a:xfrm>
          <a:prstGeom prst="rect">
            <a:avLst/>
          </a:prstGeom>
        </p:spPr>
      </p:pic>
    </p:spTree>
    <p:extLst>
      <p:ext uri="{BB962C8B-B14F-4D97-AF65-F5344CB8AC3E}">
        <p14:creationId xmlns:p14="http://schemas.microsoft.com/office/powerpoint/2010/main" val="150243860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73">
          <a:extLst>
            <a:ext uri="{FF2B5EF4-FFF2-40B4-BE49-F238E27FC236}">
              <a16:creationId xmlns:a16="http://schemas.microsoft.com/office/drawing/2014/main" id="{CA6090C0-0478-84F9-6D20-717B6FEB7326}"/>
            </a:ext>
          </a:extLst>
        </p:cNvPr>
        <p:cNvGrpSpPr/>
        <p:nvPr/>
      </p:nvGrpSpPr>
      <p:grpSpPr>
        <a:xfrm>
          <a:off x="0" y="0"/>
          <a:ext cx="0" cy="0"/>
          <a:chOff x="0" y="0"/>
          <a:chExt cx="0" cy="0"/>
        </a:xfrm>
      </p:grpSpPr>
      <p:sp>
        <p:nvSpPr>
          <p:cNvPr id="2" name="Google Shape;135;p5">
            <a:extLst>
              <a:ext uri="{FF2B5EF4-FFF2-40B4-BE49-F238E27FC236}">
                <a16:creationId xmlns:a16="http://schemas.microsoft.com/office/drawing/2014/main" id="{B64CF172-D2AF-03D8-F919-AA7827A0D969}"/>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3500" b="1" i="0" u="none" strike="noStrike" cap="none" dirty="0">
                <a:solidFill>
                  <a:srgbClr val="051D3A"/>
                </a:solidFill>
                <a:latin typeface="Times New Roman"/>
                <a:ea typeface="Times New Roman"/>
                <a:cs typeface="Times New Roman"/>
                <a:sym typeface="Times New Roman"/>
              </a:rPr>
              <a:t> </a:t>
            </a:r>
            <a:r>
              <a:rPr lang="en-US" sz="2400" b="1" dirty="0">
                <a:solidFill>
                  <a:srgbClr val="051D3A"/>
                </a:solidFill>
                <a:latin typeface="Times New Roman"/>
                <a:ea typeface="Times New Roman"/>
                <a:cs typeface="Times New Roman"/>
                <a:sym typeface="Times New Roman"/>
              </a:rPr>
              <a:t>env.</a:t>
            </a:r>
            <a:endParaRPr sz="2400" b="1" dirty="0">
              <a:sym typeface="Times New Roman"/>
            </a:endParaRPr>
          </a:p>
        </p:txBody>
      </p:sp>
      <p:pic>
        <p:nvPicPr>
          <p:cNvPr id="4" name="Picture 3">
            <a:extLst>
              <a:ext uri="{FF2B5EF4-FFF2-40B4-BE49-F238E27FC236}">
                <a16:creationId xmlns:a16="http://schemas.microsoft.com/office/drawing/2014/main" id="{38DD9CFB-50EF-7561-537B-AB1BACEDB2A3}"/>
              </a:ext>
            </a:extLst>
          </p:cNvPr>
          <p:cNvPicPr>
            <a:picLocks noChangeAspect="1"/>
          </p:cNvPicPr>
          <p:nvPr/>
        </p:nvPicPr>
        <p:blipFill>
          <a:blip r:embed="rId3"/>
          <a:stretch>
            <a:fillRect/>
          </a:stretch>
        </p:blipFill>
        <p:spPr>
          <a:xfrm>
            <a:off x="1466337" y="856734"/>
            <a:ext cx="6778504" cy="5780285"/>
          </a:xfrm>
          <a:prstGeom prst="rect">
            <a:avLst/>
          </a:prstGeom>
        </p:spPr>
      </p:pic>
    </p:spTree>
    <p:extLst>
      <p:ext uri="{BB962C8B-B14F-4D97-AF65-F5344CB8AC3E}">
        <p14:creationId xmlns:p14="http://schemas.microsoft.com/office/powerpoint/2010/main" val="131654555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73">
          <a:extLst>
            <a:ext uri="{FF2B5EF4-FFF2-40B4-BE49-F238E27FC236}">
              <a16:creationId xmlns:a16="http://schemas.microsoft.com/office/drawing/2014/main" id="{4811428A-B989-11DC-9829-CFE9EE07892A}"/>
            </a:ext>
          </a:extLst>
        </p:cNvPr>
        <p:cNvGrpSpPr/>
        <p:nvPr/>
      </p:nvGrpSpPr>
      <p:grpSpPr>
        <a:xfrm>
          <a:off x="0" y="0"/>
          <a:ext cx="0" cy="0"/>
          <a:chOff x="0" y="0"/>
          <a:chExt cx="0" cy="0"/>
        </a:xfrm>
      </p:grpSpPr>
      <p:sp>
        <p:nvSpPr>
          <p:cNvPr id="2" name="Google Shape;135;p5">
            <a:extLst>
              <a:ext uri="{FF2B5EF4-FFF2-40B4-BE49-F238E27FC236}">
                <a16:creationId xmlns:a16="http://schemas.microsoft.com/office/drawing/2014/main" id="{2F46FE94-F05B-F9F9-2465-B774909E810E}"/>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3500" b="1" i="0" u="none" strike="noStrike" cap="none" dirty="0">
                <a:solidFill>
                  <a:srgbClr val="051D3A"/>
                </a:solidFill>
                <a:latin typeface="Times New Roman"/>
                <a:ea typeface="Times New Roman"/>
                <a:cs typeface="Times New Roman"/>
                <a:sym typeface="Times New Roman"/>
              </a:rPr>
              <a:t> </a:t>
            </a:r>
            <a:r>
              <a:rPr lang="en-US" sz="2400" b="1" i="0" u="none" strike="noStrike" cap="none" dirty="0">
                <a:solidFill>
                  <a:srgbClr val="051D3A"/>
                </a:solidFill>
                <a:latin typeface="Times New Roman"/>
                <a:ea typeface="Times New Roman"/>
                <a:cs typeface="Times New Roman"/>
                <a:sym typeface="Times New Roman"/>
              </a:rPr>
              <a:t>index</a:t>
            </a:r>
            <a:r>
              <a:rPr lang="en-US" sz="2400" b="1" dirty="0">
                <a:solidFill>
                  <a:srgbClr val="051D3A"/>
                </a:solidFill>
                <a:latin typeface="Times New Roman"/>
                <a:ea typeface="Times New Roman"/>
                <a:cs typeface="Times New Roman"/>
                <a:sym typeface="Times New Roman"/>
              </a:rPr>
              <a:t>.html</a:t>
            </a:r>
            <a:endParaRPr sz="2400" b="1" dirty="0">
              <a:sym typeface="Times New Roman"/>
            </a:endParaRPr>
          </a:p>
        </p:txBody>
      </p:sp>
      <p:pic>
        <p:nvPicPr>
          <p:cNvPr id="5" name="Picture 4">
            <a:extLst>
              <a:ext uri="{FF2B5EF4-FFF2-40B4-BE49-F238E27FC236}">
                <a16:creationId xmlns:a16="http://schemas.microsoft.com/office/drawing/2014/main" id="{DCDC5DA6-DCA2-C90D-BEAE-2525DBD81F37}"/>
              </a:ext>
            </a:extLst>
          </p:cNvPr>
          <p:cNvPicPr>
            <a:picLocks noChangeAspect="1"/>
          </p:cNvPicPr>
          <p:nvPr/>
        </p:nvPicPr>
        <p:blipFill>
          <a:blip r:embed="rId3"/>
          <a:stretch>
            <a:fillRect/>
          </a:stretch>
        </p:blipFill>
        <p:spPr>
          <a:xfrm>
            <a:off x="2174790" y="856735"/>
            <a:ext cx="7015509" cy="5833432"/>
          </a:xfrm>
          <a:prstGeom prst="rect">
            <a:avLst/>
          </a:prstGeom>
        </p:spPr>
      </p:pic>
    </p:spTree>
    <p:extLst>
      <p:ext uri="{BB962C8B-B14F-4D97-AF65-F5344CB8AC3E}">
        <p14:creationId xmlns:p14="http://schemas.microsoft.com/office/powerpoint/2010/main" val="300045307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pic>
        <p:nvPicPr>
          <p:cNvPr id="196" name="Google Shape;196;p9"/>
          <p:cNvPicPr preferRelativeResize="0"/>
          <p:nvPr/>
        </p:nvPicPr>
        <p:blipFill rotWithShape="1">
          <a:blip r:embed="rId3">
            <a:alphaModFix/>
          </a:blip>
          <a:srcRect/>
          <a:stretch/>
        </p:blipFill>
        <p:spPr>
          <a:xfrm>
            <a:off x="8371985" y="1167493"/>
            <a:ext cx="3015343" cy="4523014"/>
          </a:xfrm>
          <a:prstGeom prst="rect">
            <a:avLst/>
          </a:prstGeom>
          <a:noFill/>
          <a:ln>
            <a:noFill/>
          </a:ln>
        </p:spPr>
      </p:pic>
      <p:sp>
        <p:nvSpPr>
          <p:cNvPr id="2" name="TextBox 1">
            <a:extLst>
              <a:ext uri="{FF2B5EF4-FFF2-40B4-BE49-F238E27FC236}">
                <a16:creationId xmlns:a16="http://schemas.microsoft.com/office/drawing/2014/main" id="{B84A7B44-8B20-5A39-ED43-DA98D0FC7976}"/>
              </a:ext>
            </a:extLst>
          </p:cNvPr>
          <p:cNvSpPr txBox="1"/>
          <p:nvPr/>
        </p:nvSpPr>
        <p:spPr>
          <a:xfrm>
            <a:off x="475488" y="283464"/>
            <a:ext cx="9317736" cy="584775"/>
          </a:xfrm>
          <a:prstGeom prst="rect">
            <a:avLst/>
          </a:prstGeom>
          <a:noFill/>
        </p:spPr>
        <p:txBody>
          <a:bodyPr wrap="square" rtlCol="0">
            <a:spAutoFit/>
          </a:bodyPr>
          <a:lstStyle/>
          <a:p>
            <a:r>
              <a:rPr lang="en-US" sz="3200" b="1" dirty="0"/>
              <a:t>Role of Agentic AI in the solution </a:t>
            </a:r>
            <a:endParaRPr lang="en-IN" sz="3200" b="1" dirty="0"/>
          </a:p>
        </p:txBody>
      </p:sp>
      <p:sp>
        <p:nvSpPr>
          <p:cNvPr id="3" name="TextBox 2">
            <a:extLst>
              <a:ext uri="{FF2B5EF4-FFF2-40B4-BE49-F238E27FC236}">
                <a16:creationId xmlns:a16="http://schemas.microsoft.com/office/drawing/2014/main" id="{322462E8-EB3A-DA7D-44CB-4E757803A755}"/>
              </a:ext>
            </a:extLst>
          </p:cNvPr>
          <p:cNvSpPr txBox="1"/>
          <p:nvPr/>
        </p:nvSpPr>
        <p:spPr>
          <a:xfrm>
            <a:off x="621792" y="1167493"/>
            <a:ext cx="7406640" cy="4985980"/>
          </a:xfrm>
          <a:prstGeom prst="rect">
            <a:avLst/>
          </a:prstGeom>
          <a:noFill/>
        </p:spPr>
        <p:txBody>
          <a:bodyPr wrap="square" rtlCol="0">
            <a:spAutoFit/>
          </a:bodyPr>
          <a:lstStyle/>
          <a:p>
            <a:r>
              <a:rPr lang="en-US" sz="1600" b="1" dirty="0"/>
              <a:t>Role of Agentic AI in </a:t>
            </a:r>
            <a:r>
              <a:rPr lang="en-US" sz="1600" b="1" dirty="0" err="1"/>
              <a:t>FarmTwin</a:t>
            </a:r>
            <a:endParaRPr lang="en-US" sz="1600" b="1" dirty="0"/>
          </a:p>
          <a:p>
            <a:r>
              <a:rPr lang="en-US" sz="1600" dirty="0"/>
              <a:t>Agentic AI acts as the intelligent decision-making layer of </a:t>
            </a:r>
            <a:r>
              <a:rPr lang="en-US" sz="1600" dirty="0" err="1"/>
              <a:t>FarmTwin</a:t>
            </a:r>
            <a:r>
              <a:rPr lang="en-US" sz="1600" dirty="0"/>
              <a:t> AI. Instead of providing generic farming advice, multiple specialized AI agents independently analyze crop, weather, soil, pest/disease, and market conditions, then collaborate through IBM </a:t>
            </a:r>
            <a:r>
              <a:rPr lang="en-US" sz="1600" dirty="0" err="1"/>
              <a:t>watsonx</a:t>
            </a:r>
            <a:r>
              <a:rPr lang="en-US" sz="1600" dirty="0"/>
              <a:t> Orchestrate to generate one personalized farm action plan. The agents continuously evaluate farm conditions, identify risks, recommend actions, and adapt decisions based on changing conditions. IBM Granite provides AI reasoning, while IBM </a:t>
            </a:r>
            <a:r>
              <a:rPr lang="en-US" sz="1600" dirty="0" err="1"/>
              <a:t>Langflow</a:t>
            </a:r>
            <a:r>
              <a:rPr lang="en-US" sz="1600" dirty="0"/>
              <a:t> enables RAG-based retrieval of reliable agricultural knowledge and advisories.</a:t>
            </a:r>
          </a:p>
          <a:p>
            <a:r>
              <a:rPr lang="en-US" sz="1600" b="1" dirty="0"/>
              <a:t>Key Roles</a:t>
            </a:r>
          </a:p>
          <a:p>
            <a:pPr marL="285750" lvl="0" indent="-285750">
              <a:buFont typeface="Arial" panose="020B0604020202020204" pitchFamily="34" charset="0"/>
              <a:buChar char="•"/>
            </a:pPr>
            <a:r>
              <a:rPr lang="en-US" sz="1600" b="1" dirty="0"/>
              <a:t>Crop Agent:</a:t>
            </a:r>
            <a:r>
              <a:rPr lang="en-US" sz="1600" dirty="0"/>
              <a:t> Crop care, fertilizer, seeds and harvesting advice. </a:t>
            </a:r>
          </a:p>
          <a:p>
            <a:pPr marL="285750" lvl="0" indent="-285750">
              <a:buFont typeface="Arial" panose="020B0604020202020204" pitchFamily="34" charset="0"/>
              <a:buChar char="•"/>
            </a:pPr>
            <a:r>
              <a:rPr lang="en-US" sz="1600" b="1" dirty="0"/>
              <a:t>Weather &amp; Irrigation Agent:</a:t>
            </a:r>
            <a:r>
              <a:rPr lang="en-US" sz="1600" dirty="0"/>
              <a:t> Weather-based irrigation and water optimization. </a:t>
            </a:r>
          </a:p>
          <a:p>
            <a:pPr marL="285750" lvl="0" indent="-285750">
              <a:buFont typeface="Arial" panose="020B0604020202020204" pitchFamily="34" charset="0"/>
              <a:buChar char="•"/>
            </a:pPr>
            <a:r>
              <a:rPr lang="en-US" sz="1600" b="1" dirty="0"/>
              <a:t>Pest/Disease Agent:</a:t>
            </a:r>
            <a:r>
              <a:rPr lang="en-US" sz="1600" dirty="0"/>
              <a:t> Crop-image analysis and early disease detection. </a:t>
            </a:r>
          </a:p>
          <a:p>
            <a:pPr marL="285750" lvl="0" indent="-285750">
              <a:buFont typeface="Arial" panose="020B0604020202020204" pitchFamily="34" charset="0"/>
              <a:buChar char="•"/>
            </a:pPr>
            <a:r>
              <a:rPr lang="en-US" sz="1600" b="1" dirty="0"/>
              <a:t>Market Agent:</a:t>
            </a:r>
            <a:r>
              <a:rPr lang="en-US" sz="1600" dirty="0"/>
              <a:t> Price, yield, cost and profit analysis. </a:t>
            </a:r>
          </a:p>
          <a:p>
            <a:pPr marL="285750" lvl="0" indent="-285750">
              <a:buFont typeface="Arial" panose="020B0604020202020204" pitchFamily="34" charset="0"/>
              <a:buChar char="•"/>
            </a:pPr>
            <a:r>
              <a:rPr lang="en-US" sz="1600" b="1" dirty="0"/>
              <a:t>Decision Engine:</a:t>
            </a:r>
            <a:r>
              <a:rPr lang="en-US" sz="1600" dirty="0"/>
              <a:t> Combines all agent outputs into a single actionable recommendation. </a:t>
            </a:r>
          </a:p>
          <a:p>
            <a:pPr marL="285750" lvl="0" indent="-285750">
              <a:buFont typeface="Arial" panose="020B0604020202020204" pitchFamily="34" charset="0"/>
              <a:buChar char="•"/>
            </a:pPr>
            <a:r>
              <a:rPr lang="en-US" sz="1600" b="1" dirty="0"/>
              <a:t>Agent Collaboration:</a:t>
            </a:r>
            <a:r>
              <a:rPr lang="en-US" sz="1600" dirty="0"/>
              <a:t> Agents communicate and coordinate to make context-aware farming decisions.</a:t>
            </a:r>
          </a:p>
          <a:p>
            <a:endParaRPr lang="en-US" b="1" dirty="0"/>
          </a:p>
        </p:txBody>
      </p:sp>
    </p:spTree>
    <p:extLst>
      <p:ext uri="{BB962C8B-B14F-4D97-AF65-F5344CB8AC3E}">
        <p14:creationId xmlns:p14="http://schemas.microsoft.com/office/powerpoint/2010/main" val="400069696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1863F011-FD59-2782-3732-0E3263170F5E}"/>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78DA0257-5105-834D-150D-50732C7248D1}"/>
              </a:ext>
            </a:extLst>
          </p:cNvPr>
          <p:cNvSpPr/>
          <p:nvPr/>
        </p:nvSpPr>
        <p:spPr>
          <a:xfrm>
            <a:off x="409144" y="1129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400" b="1">
                <a:sym typeface="Times New Roman"/>
              </a:rPr>
              <a:t> Project Output Screenshot</a:t>
            </a:r>
            <a:endParaRPr sz="2400" b="1">
              <a:sym typeface="Times New Roman"/>
            </a:endParaRPr>
          </a:p>
        </p:txBody>
      </p:sp>
      <p:sp>
        <p:nvSpPr>
          <p:cNvPr id="280" name="Google Shape;280;p18">
            <a:extLst>
              <a:ext uri="{FF2B5EF4-FFF2-40B4-BE49-F238E27FC236}">
                <a16:creationId xmlns:a16="http://schemas.microsoft.com/office/drawing/2014/main" id="{827D77C8-2496-7668-B3B3-927FD4DB704D}"/>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46BDB3C0-B0E9-3C3A-A974-6BF43591F3FC}"/>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8CB1AEC3-7C17-0CCE-61FA-643373D6AE22}"/>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pic>
        <p:nvPicPr>
          <p:cNvPr id="7" name="Picture 6">
            <a:extLst>
              <a:ext uri="{FF2B5EF4-FFF2-40B4-BE49-F238E27FC236}">
                <a16:creationId xmlns:a16="http://schemas.microsoft.com/office/drawing/2014/main" id="{CE7FA060-3A1F-F3B7-E9B9-896B13F83873}"/>
              </a:ext>
            </a:extLst>
          </p:cNvPr>
          <p:cNvPicPr>
            <a:picLocks noChangeAspect="1"/>
          </p:cNvPicPr>
          <p:nvPr/>
        </p:nvPicPr>
        <p:blipFill>
          <a:blip r:embed="rId3"/>
          <a:stretch>
            <a:fillRect/>
          </a:stretch>
        </p:blipFill>
        <p:spPr>
          <a:xfrm>
            <a:off x="609600" y="697264"/>
            <a:ext cx="10972800" cy="5900306"/>
          </a:xfrm>
          <a:prstGeom prst="rect">
            <a:avLst/>
          </a:prstGeom>
        </p:spPr>
      </p:pic>
    </p:spTree>
    <p:extLst>
      <p:ext uri="{BB962C8B-B14F-4D97-AF65-F5344CB8AC3E}">
        <p14:creationId xmlns:p14="http://schemas.microsoft.com/office/powerpoint/2010/main" val="142996181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A1254DC3-8448-76A3-8631-9484D98C80EB}"/>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A5DD5E73-E4F8-AB1C-5A5A-D4EBAD6FD1B8}"/>
              </a:ext>
            </a:extLst>
          </p:cNvPr>
          <p:cNvSpPr/>
          <p:nvPr/>
        </p:nvSpPr>
        <p:spPr>
          <a:xfrm>
            <a:off x="409144" y="1129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400" b="1">
                <a:sym typeface="Times New Roman"/>
              </a:rPr>
              <a:t> Project Output Screenshot</a:t>
            </a:r>
            <a:endParaRPr sz="2400" b="1">
              <a:sym typeface="Times New Roman"/>
            </a:endParaRPr>
          </a:p>
        </p:txBody>
      </p:sp>
      <p:sp>
        <p:nvSpPr>
          <p:cNvPr id="280" name="Google Shape;280;p18">
            <a:extLst>
              <a:ext uri="{FF2B5EF4-FFF2-40B4-BE49-F238E27FC236}">
                <a16:creationId xmlns:a16="http://schemas.microsoft.com/office/drawing/2014/main" id="{E6E4A7DC-3E1D-42C4-3256-8A3109D5036E}"/>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1EC4E285-5561-2096-3270-252023A42F4B}"/>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FA8B1B6D-C213-0DFE-C434-B14C5F9945F5}"/>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9692D13D-6B69-03D8-BA22-587B943A2572}"/>
              </a:ext>
            </a:extLst>
          </p:cNvPr>
          <p:cNvSpPr txBox="1"/>
          <p:nvPr/>
        </p:nvSpPr>
        <p:spPr>
          <a:xfrm>
            <a:off x="1335024" y="1865376"/>
            <a:ext cx="6833922" cy="707886"/>
          </a:xfrm>
          <a:prstGeom prst="rect">
            <a:avLst/>
          </a:prstGeom>
          <a:noFill/>
        </p:spPr>
        <p:txBody>
          <a:bodyPr wrap="none" rtlCol="0">
            <a:spAutoFit/>
          </a:bodyPr>
          <a:lstStyle/>
          <a:p>
            <a:r>
              <a:rPr lang="en-US" sz="2000">
                <a:solidFill>
                  <a:srgbClr val="FF0000"/>
                </a:solidFill>
              </a:rPr>
              <a:t>Please put IBM Bob output screenshots with 2-3 prompts. </a:t>
            </a:r>
          </a:p>
          <a:p>
            <a:r>
              <a:rPr lang="en-US" sz="2000">
                <a:solidFill>
                  <a:srgbClr val="FF0000"/>
                </a:solidFill>
              </a:rPr>
              <a:t>You can take 2-3 more slides for each screenshot</a:t>
            </a:r>
            <a:endParaRPr lang="en-IN" sz="2000">
              <a:solidFill>
                <a:srgbClr val="FF0000"/>
              </a:solidFill>
            </a:endParaRPr>
          </a:p>
        </p:txBody>
      </p:sp>
      <p:pic>
        <p:nvPicPr>
          <p:cNvPr id="4" name="Picture 3">
            <a:extLst>
              <a:ext uri="{FF2B5EF4-FFF2-40B4-BE49-F238E27FC236}">
                <a16:creationId xmlns:a16="http://schemas.microsoft.com/office/drawing/2014/main" id="{2F93A0D3-7678-AE32-3DDF-B58AAC37FC94}"/>
              </a:ext>
            </a:extLst>
          </p:cNvPr>
          <p:cNvPicPr>
            <a:picLocks noChangeAspect="1"/>
          </p:cNvPicPr>
          <p:nvPr/>
        </p:nvPicPr>
        <p:blipFill>
          <a:blip r:embed="rId3"/>
          <a:stretch>
            <a:fillRect/>
          </a:stretch>
        </p:blipFill>
        <p:spPr>
          <a:xfrm>
            <a:off x="609600" y="717630"/>
            <a:ext cx="10972800" cy="5810492"/>
          </a:xfrm>
          <a:prstGeom prst="rect">
            <a:avLst/>
          </a:prstGeom>
        </p:spPr>
      </p:pic>
    </p:spTree>
    <p:extLst>
      <p:ext uri="{BB962C8B-B14F-4D97-AF65-F5344CB8AC3E}">
        <p14:creationId xmlns:p14="http://schemas.microsoft.com/office/powerpoint/2010/main" val="358509230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E3C4AEBB-2963-4EEE-D8ED-E3B5ABCFF21F}"/>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67AD5A0A-54A3-BC96-26BB-9C49B61555EC}"/>
              </a:ext>
            </a:extLst>
          </p:cNvPr>
          <p:cNvSpPr/>
          <p:nvPr/>
        </p:nvSpPr>
        <p:spPr>
          <a:xfrm>
            <a:off x="409144" y="1129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400" b="1">
                <a:sym typeface="Times New Roman"/>
              </a:rPr>
              <a:t> Project Output Screenshot</a:t>
            </a:r>
            <a:endParaRPr sz="2400" b="1">
              <a:sym typeface="Times New Roman"/>
            </a:endParaRPr>
          </a:p>
        </p:txBody>
      </p:sp>
      <p:sp>
        <p:nvSpPr>
          <p:cNvPr id="280" name="Google Shape;280;p18">
            <a:extLst>
              <a:ext uri="{FF2B5EF4-FFF2-40B4-BE49-F238E27FC236}">
                <a16:creationId xmlns:a16="http://schemas.microsoft.com/office/drawing/2014/main" id="{A12490E1-7210-03FA-8406-7044E50A98B3}"/>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D0575C07-AA6B-0149-734C-B101314C9343}"/>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77B9C142-F05E-0FCB-045D-6B4B10F795C3}"/>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EB55001C-8880-8B09-8704-29D3F62E7A03}"/>
              </a:ext>
            </a:extLst>
          </p:cNvPr>
          <p:cNvSpPr txBox="1"/>
          <p:nvPr/>
        </p:nvSpPr>
        <p:spPr>
          <a:xfrm>
            <a:off x="1335024" y="1865376"/>
            <a:ext cx="6833922" cy="707886"/>
          </a:xfrm>
          <a:prstGeom prst="rect">
            <a:avLst/>
          </a:prstGeom>
          <a:noFill/>
        </p:spPr>
        <p:txBody>
          <a:bodyPr wrap="none" rtlCol="0">
            <a:spAutoFit/>
          </a:bodyPr>
          <a:lstStyle/>
          <a:p>
            <a:r>
              <a:rPr lang="en-US" sz="2000">
                <a:solidFill>
                  <a:srgbClr val="FF0000"/>
                </a:solidFill>
              </a:rPr>
              <a:t>Please put IBM Bob output screenshots with 2-3 prompts. </a:t>
            </a:r>
          </a:p>
          <a:p>
            <a:r>
              <a:rPr lang="en-US" sz="2000">
                <a:solidFill>
                  <a:srgbClr val="FF0000"/>
                </a:solidFill>
              </a:rPr>
              <a:t>You can take 2-3 more slides for each screenshot</a:t>
            </a:r>
            <a:endParaRPr lang="en-IN" sz="2000">
              <a:solidFill>
                <a:srgbClr val="FF0000"/>
              </a:solidFill>
            </a:endParaRPr>
          </a:p>
        </p:txBody>
      </p:sp>
      <p:pic>
        <p:nvPicPr>
          <p:cNvPr id="5" name="Picture 4">
            <a:extLst>
              <a:ext uri="{FF2B5EF4-FFF2-40B4-BE49-F238E27FC236}">
                <a16:creationId xmlns:a16="http://schemas.microsoft.com/office/drawing/2014/main" id="{826A94D5-0FFA-4B5E-B053-737C3DB73130}"/>
              </a:ext>
            </a:extLst>
          </p:cNvPr>
          <p:cNvPicPr>
            <a:picLocks noChangeAspect="1"/>
          </p:cNvPicPr>
          <p:nvPr/>
        </p:nvPicPr>
        <p:blipFill>
          <a:blip r:embed="rId3"/>
          <a:stretch>
            <a:fillRect/>
          </a:stretch>
        </p:blipFill>
        <p:spPr>
          <a:xfrm>
            <a:off x="609600" y="682906"/>
            <a:ext cx="10972800" cy="5486400"/>
          </a:xfrm>
          <a:prstGeom prst="rect">
            <a:avLst/>
          </a:prstGeom>
        </p:spPr>
      </p:pic>
    </p:spTree>
    <p:extLst>
      <p:ext uri="{BB962C8B-B14F-4D97-AF65-F5344CB8AC3E}">
        <p14:creationId xmlns:p14="http://schemas.microsoft.com/office/powerpoint/2010/main" val="260190718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EEDEC80F-FA4E-F3FF-DE90-87B861D0BD1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FA184BA-BCF2-3D7B-30D0-0F3CF30C161B}"/>
              </a:ext>
            </a:extLst>
          </p:cNvPr>
          <p:cNvSpPr txBox="1"/>
          <p:nvPr/>
        </p:nvSpPr>
        <p:spPr>
          <a:xfrm>
            <a:off x="697953" y="484632"/>
            <a:ext cx="7202463" cy="461665"/>
          </a:xfrm>
          <a:prstGeom prst="rect">
            <a:avLst/>
          </a:prstGeom>
          <a:noFill/>
        </p:spPr>
        <p:txBody>
          <a:bodyPr wrap="square" rtlCol="0">
            <a:spAutoFit/>
          </a:bodyPr>
          <a:lstStyle/>
          <a:p>
            <a:r>
              <a:rPr lang="en-US" sz="2400" b="1" dirty="0"/>
              <a:t>Novelty and Uniqueness</a:t>
            </a:r>
            <a:endParaRPr lang="en-IN" sz="2400" b="1" dirty="0"/>
          </a:p>
        </p:txBody>
      </p:sp>
      <p:sp>
        <p:nvSpPr>
          <p:cNvPr id="3" name="TextBox 2">
            <a:extLst>
              <a:ext uri="{FF2B5EF4-FFF2-40B4-BE49-F238E27FC236}">
                <a16:creationId xmlns:a16="http://schemas.microsoft.com/office/drawing/2014/main" id="{ED65F54F-855A-0DB6-09A6-3212C5F7405B}"/>
              </a:ext>
            </a:extLst>
          </p:cNvPr>
          <p:cNvSpPr txBox="1"/>
          <p:nvPr/>
        </p:nvSpPr>
        <p:spPr>
          <a:xfrm>
            <a:off x="697953" y="1125985"/>
            <a:ext cx="11301984" cy="4924425"/>
          </a:xfrm>
          <a:prstGeom prst="rect">
            <a:avLst/>
          </a:prstGeom>
          <a:noFill/>
        </p:spPr>
        <p:txBody>
          <a:bodyPr wrap="square" rtlCol="0">
            <a:spAutoFit/>
          </a:bodyPr>
          <a:lstStyle/>
          <a:p>
            <a:r>
              <a:rPr lang="en-US" sz="2000" b="1" dirty="0" err="1"/>
              <a:t>FarmTwin</a:t>
            </a:r>
            <a:r>
              <a:rPr lang="en-US" sz="2000" b="1" dirty="0"/>
              <a:t> AI – A Digital Twin for Smarter Farming</a:t>
            </a:r>
          </a:p>
          <a:p>
            <a:pPr marL="342900" lvl="0" indent="-342900">
              <a:buFont typeface="Arial" panose="020B0604020202020204" pitchFamily="34" charset="0"/>
              <a:buChar char="•"/>
            </a:pPr>
            <a:r>
              <a:rPr lang="en-US" sz="2000" b="1" dirty="0"/>
              <a:t>Digital Twin of the Farm</a:t>
            </a:r>
            <a:r>
              <a:rPr lang="en-US" sz="2000" dirty="0"/>
              <a:t> – Creates a virtual representation of the farmer's field using crop, soil, weather, pest and market data. </a:t>
            </a:r>
          </a:p>
          <a:p>
            <a:pPr marL="342900" lvl="0" indent="-342900">
              <a:buFont typeface="Arial" panose="020B0604020202020204" pitchFamily="34" charset="0"/>
              <a:buChar char="•"/>
            </a:pPr>
            <a:r>
              <a:rPr lang="en-US" sz="2000" b="1" dirty="0"/>
              <a:t>Multi-Agent Collaboration</a:t>
            </a:r>
            <a:r>
              <a:rPr lang="en-US" sz="2000" dirty="0"/>
              <a:t> – Four specialized AI agents work together instead of providing isolated recommendations. </a:t>
            </a:r>
          </a:p>
          <a:p>
            <a:pPr marL="342900" lvl="0" indent="-342900">
              <a:buFont typeface="Arial" panose="020B0604020202020204" pitchFamily="34" charset="0"/>
              <a:buChar char="•"/>
            </a:pPr>
            <a:r>
              <a:rPr lang="en-US" sz="2000" b="1" dirty="0"/>
              <a:t>One Unified Farm Action Plan</a:t>
            </a:r>
            <a:r>
              <a:rPr lang="en-US" sz="2000" dirty="0"/>
              <a:t> – The Decision Engine combines all agent insights to provide a single, personalized recommendation for the farmer. </a:t>
            </a:r>
          </a:p>
          <a:p>
            <a:pPr marL="342900" lvl="0" indent="-342900">
              <a:buFont typeface="Arial" panose="020B0604020202020204" pitchFamily="34" charset="0"/>
              <a:buChar char="•"/>
            </a:pPr>
            <a:r>
              <a:rPr lang="en-US" sz="2000" b="1" dirty="0"/>
              <a:t>AI + RAG-Based Advisory</a:t>
            </a:r>
            <a:r>
              <a:rPr lang="en-US" sz="2000" dirty="0"/>
              <a:t> – Uses IBM Granite with </a:t>
            </a:r>
            <a:r>
              <a:rPr lang="en-US" sz="2000" dirty="0" err="1"/>
              <a:t>Langflow</a:t>
            </a:r>
            <a:r>
              <a:rPr lang="en-US" sz="2000" dirty="0"/>
              <a:t> RAG to provide context-aware advice grounded in agricultural knowledge and advisories. </a:t>
            </a:r>
          </a:p>
          <a:p>
            <a:pPr marL="342900" lvl="0" indent="-342900">
              <a:buFont typeface="Arial" panose="020B0604020202020204" pitchFamily="34" charset="0"/>
              <a:buChar char="•"/>
            </a:pPr>
            <a:r>
              <a:rPr lang="en-US" sz="2000" b="1" dirty="0"/>
              <a:t>Vision-Based Early Detection</a:t>
            </a:r>
            <a:r>
              <a:rPr lang="en-US" sz="2000" dirty="0"/>
              <a:t> – Farmers can upload crop images to detect possible pests and diseases and receive recommended actions. </a:t>
            </a:r>
          </a:p>
          <a:p>
            <a:pPr marL="342900" lvl="0" indent="-342900">
              <a:buFont typeface="Arial" panose="020B0604020202020204" pitchFamily="34" charset="0"/>
              <a:buChar char="•"/>
            </a:pPr>
            <a:r>
              <a:rPr lang="en-US" sz="2000" b="1" dirty="0"/>
              <a:t>What-If Decision Simulator</a:t>
            </a:r>
            <a:r>
              <a:rPr lang="en-US" sz="2000" dirty="0"/>
              <a:t> – Farmers can test decisions such as </a:t>
            </a:r>
            <a:r>
              <a:rPr lang="en-US" sz="2000" b="1" dirty="0"/>
              <a:t>“What if I reduce irrigation by 20%?”</a:t>
            </a:r>
            <a:r>
              <a:rPr lang="en-US" sz="2000" dirty="0"/>
              <a:t> and see the estimated impact on water, yield, cost, profit and sustainability. </a:t>
            </a:r>
          </a:p>
          <a:p>
            <a:pPr marL="342900" lvl="0" indent="-342900">
              <a:buFont typeface="Arial" panose="020B0604020202020204" pitchFamily="34" charset="0"/>
              <a:buChar char="•"/>
            </a:pPr>
            <a:r>
              <a:rPr lang="en-US" sz="2000" b="1" dirty="0"/>
              <a:t>Profit + Sustainability Optimization</a:t>
            </a:r>
            <a:r>
              <a:rPr lang="en-US" sz="2000" dirty="0"/>
              <a:t> – Goes beyond crop yield by balancing </a:t>
            </a:r>
            <a:r>
              <a:rPr lang="en-US" sz="2000" b="1" dirty="0"/>
              <a:t>income, resource efficiency and environmental sustainability</a:t>
            </a:r>
            <a:r>
              <a:rPr lang="en-US" sz="2000" dirty="0"/>
              <a:t>.</a:t>
            </a:r>
          </a:p>
          <a:p>
            <a:endParaRPr lang="en-IN" dirty="0"/>
          </a:p>
        </p:txBody>
      </p:sp>
    </p:spTree>
    <p:extLst>
      <p:ext uri="{BB962C8B-B14F-4D97-AF65-F5344CB8AC3E}">
        <p14:creationId xmlns:p14="http://schemas.microsoft.com/office/powerpoint/2010/main" val="232528227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7BB3C0CA-2F24-30DF-1D65-4440B864F08E}"/>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187EEB9C-2E84-113A-3CE6-1507BF5B039F}"/>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a:sym typeface="Times New Roman"/>
              </a:rPr>
              <a:t>Git Hub Link</a:t>
            </a:r>
            <a:endParaRPr sz="2400" b="1">
              <a:sym typeface="Times New Roman"/>
            </a:endParaRPr>
          </a:p>
        </p:txBody>
      </p:sp>
      <p:sp>
        <p:nvSpPr>
          <p:cNvPr id="279" name="Google Shape;279;p18">
            <a:extLst>
              <a:ext uri="{FF2B5EF4-FFF2-40B4-BE49-F238E27FC236}">
                <a16:creationId xmlns:a16="http://schemas.microsoft.com/office/drawing/2014/main" id="{3711AF54-94A6-B837-31EF-9A8C4ECB9AF6}"/>
              </a:ext>
            </a:extLst>
          </p:cNvPr>
          <p:cNvSpPr/>
          <p:nvPr/>
        </p:nvSpPr>
        <p:spPr>
          <a:xfrm>
            <a:off x="1218724" y="1153712"/>
            <a:ext cx="9214580" cy="4277001"/>
          </a:xfrm>
          <a:prstGeom prst="rect">
            <a:avLst/>
          </a:prstGeom>
          <a:noFill/>
          <a:ln>
            <a:noFill/>
          </a:ln>
        </p:spPr>
        <p:txBody>
          <a:bodyPr spcFirstLastPara="1" wrap="square" lIns="0" tIns="0" rIns="0" bIns="0" anchor="t" anchorCtr="0">
            <a:noAutofit/>
          </a:bodyPr>
          <a:lstStyle/>
          <a:p>
            <a:pPr lvl="0">
              <a:lnSpc>
                <a:spcPct val="162162"/>
              </a:lnSpc>
              <a:buClr>
                <a:srgbClr val="2B3541"/>
              </a:buClr>
              <a:buSzPts val="1850"/>
            </a:pPr>
            <a:r>
              <a:rPr lang="en-US" sz="2000" dirty="0">
                <a:solidFill>
                  <a:srgbClr val="2B3541"/>
                </a:solidFill>
                <a:latin typeface="Times New Roman"/>
                <a:ea typeface="Times New Roman"/>
                <a:cs typeface="Times New Roman"/>
                <a:sym typeface="Times New Roman"/>
              </a:rPr>
              <a:t>https://github.com/sahurenuka1220-a11y/FarmTwin-AI</a:t>
            </a:r>
          </a:p>
          <a:p>
            <a:pPr marL="0" marR="0" lvl="0" indent="0" algn="l" rtl="0">
              <a:lnSpc>
                <a:spcPct val="162162"/>
              </a:lnSpc>
              <a:spcBef>
                <a:spcPts val="0"/>
              </a:spcBef>
              <a:spcAft>
                <a:spcPts val="0"/>
              </a:spcAft>
              <a:buClr>
                <a:srgbClr val="2B3541"/>
              </a:buClr>
              <a:buSzPts val="1850"/>
              <a:buFont typeface="Times New Roman"/>
              <a:buNone/>
            </a:pPr>
            <a:endParaRPr sz="1850" b="0" i="0" u="none" strike="noStrike" cap="none" dirty="0">
              <a:solidFill>
                <a:srgbClr val="000000"/>
              </a:solidFill>
              <a:latin typeface="Times New Roman"/>
              <a:ea typeface="Times New Roman"/>
              <a:cs typeface="Times New Roman"/>
              <a:sym typeface="Times New Roman"/>
            </a:endParaRPr>
          </a:p>
        </p:txBody>
      </p:sp>
      <p:sp>
        <p:nvSpPr>
          <p:cNvPr id="280" name="Google Shape;280;p18">
            <a:extLst>
              <a:ext uri="{FF2B5EF4-FFF2-40B4-BE49-F238E27FC236}">
                <a16:creationId xmlns:a16="http://schemas.microsoft.com/office/drawing/2014/main" id="{E228982D-BF81-530A-CBA1-E897A3CA8EF7}"/>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7BC356B8-92F8-3187-D065-667AACF68E72}"/>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1558A011-60D6-B010-6117-1B9F7C786B2B}"/>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404041227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6FA0F82B-7EE5-EAB0-F470-130BDAC8254B}"/>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0668C6FD-577A-7288-5642-1AFC22BD04F2}"/>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dirty="0">
                <a:sym typeface="Times New Roman"/>
              </a:rPr>
              <a:t>Future Scope </a:t>
            </a:r>
            <a:endParaRPr sz="2400" b="1" dirty="0">
              <a:sym typeface="Times New Roman"/>
            </a:endParaRPr>
          </a:p>
        </p:txBody>
      </p:sp>
      <p:sp>
        <p:nvSpPr>
          <p:cNvPr id="279" name="Google Shape;279;p18">
            <a:extLst>
              <a:ext uri="{FF2B5EF4-FFF2-40B4-BE49-F238E27FC236}">
                <a16:creationId xmlns:a16="http://schemas.microsoft.com/office/drawing/2014/main" id="{EAFA16CB-0A72-5AC5-69A0-ABF4A752B43F}"/>
              </a:ext>
            </a:extLst>
          </p:cNvPr>
          <p:cNvSpPr/>
          <p:nvPr/>
        </p:nvSpPr>
        <p:spPr>
          <a:xfrm>
            <a:off x="1218724" y="1221715"/>
            <a:ext cx="9214580" cy="4277001"/>
          </a:xfrm>
          <a:prstGeom prst="rect">
            <a:avLst/>
          </a:prstGeom>
          <a:noFill/>
          <a:ln>
            <a:noFill/>
          </a:ln>
        </p:spPr>
        <p:txBody>
          <a:bodyPr spcFirstLastPara="1" wrap="square" lIns="0" tIns="0" rIns="0" bIns="0" anchor="t" anchorCtr="0">
            <a:noAutofit/>
          </a:bodyPr>
          <a:lstStyle/>
          <a:p>
            <a:pPr marL="342900" lvl="0" indent="-342900">
              <a:buFont typeface="Arial" panose="020B0604020202020204" pitchFamily="34" charset="0"/>
              <a:buChar char="•"/>
            </a:pPr>
            <a:r>
              <a:rPr lang="en-US" sz="2000" b="1" dirty="0"/>
              <a:t>IoT Sensor Integration</a:t>
            </a:r>
            <a:r>
              <a:rPr lang="en-US" sz="2000" dirty="0"/>
              <a:t> – Connect real-time soil moisture, temperature, humidity  and nutrient sensors for continuous field monitoring. </a:t>
            </a:r>
          </a:p>
          <a:p>
            <a:pPr marL="342900" lvl="0" indent="-342900">
              <a:buFont typeface="Arial" panose="020B0604020202020204" pitchFamily="34" charset="0"/>
              <a:buChar char="•"/>
            </a:pPr>
            <a:r>
              <a:rPr lang="en-US" sz="2000" b="1" dirty="0"/>
              <a:t>Drone &amp; Satellite Monitoring</a:t>
            </a:r>
            <a:r>
              <a:rPr lang="en-US" sz="2000" dirty="0"/>
              <a:t> – Use aerial imagery to monitor crop health, water stress and affected areas across large farms. </a:t>
            </a:r>
          </a:p>
          <a:p>
            <a:pPr marL="342900" lvl="0" indent="-342900">
              <a:buFont typeface="Arial" panose="020B0604020202020204" pitchFamily="34" charset="0"/>
              <a:buChar char="•"/>
            </a:pPr>
            <a:r>
              <a:rPr lang="en-US" sz="2000" b="1" dirty="0"/>
              <a:t>Advanced Yield Prediction</a:t>
            </a:r>
            <a:r>
              <a:rPr lang="en-US" sz="2000" dirty="0"/>
              <a:t> – Improve yield forecasting using historical crop, weather, soil and satellite data. </a:t>
            </a:r>
          </a:p>
          <a:p>
            <a:pPr marL="342900" lvl="0" indent="-342900">
              <a:buFont typeface="Arial" panose="020B0604020202020204" pitchFamily="34" charset="0"/>
              <a:buChar char="•"/>
            </a:pPr>
            <a:r>
              <a:rPr lang="en-US" sz="2000" b="1" dirty="0"/>
              <a:t>Regional &amp; Local Language Support</a:t>
            </a:r>
            <a:r>
              <a:rPr lang="en-US" sz="2000" dirty="0"/>
              <a:t> – Provide voice-based farming advice in regional Indian languages for wider accessibility. </a:t>
            </a:r>
          </a:p>
          <a:p>
            <a:pPr marL="342900" lvl="0" indent="-342900">
              <a:buFont typeface="Arial" panose="020B0604020202020204" pitchFamily="34" charset="0"/>
              <a:buChar char="•"/>
            </a:pPr>
            <a:r>
              <a:rPr lang="en-US" sz="2000" b="1" dirty="0"/>
              <a:t>Real-Time Market Integration</a:t>
            </a:r>
            <a:r>
              <a:rPr lang="en-US" sz="2000" dirty="0"/>
              <a:t> – Connect live mandi/market data to recommend the most profitable selling location and time. </a:t>
            </a:r>
          </a:p>
          <a:p>
            <a:pPr marL="342900" lvl="0" indent="-342900">
              <a:buFont typeface="Arial" panose="020B0604020202020204" pitchFamily="34" charset="0"/>
              <a:buChar char="•"/>
            </a:pPr>
            <a:r>
              <a:rPr lang="en-US" sz="2000" b="1" dirty="0"/>
              <a:t>Automated Irrigation</a:t>
            </a:r>
            <a:r>
              <a:rPr lang="en-US" sz="2000" dirty="0"/>
              <a:t> – Integrate smart irrigation systems so recommendations can automatically control water usage. </a:t>
            </a:r>
          </a:p>
          <a:p>
            <a:pPr marL="342900" lvl="0" indent="-342900">
              <a:buFont typeface="Arial" panose="020B0604020202020204" pitchFamily="34" charset="0"/>
              <a:buChar char="•"/>
            </a:pPr>
            <a:r>
              <a:rPr lang="en-US" sz="2000" b="1" dirty="0"/>
              <a:t>Climate Risk Prediction</a:t>
            </a:r>
            <a:r>
              <a:rPr lang="en-US" sz="2000" dirty="0"/>
              <a:t> – Predict droughts, floods, heat stress and other climate-related risks and provide preventive actions. </a:t>
            </a:r>
          </a:p>
          <a:p>
            <a:pPr marL="342900" lvl="0" indent="-342900">
              <a:buFont typeface="Arial" panose="020B0604020202020204" pitchFamily="34" charset="0"/>
              <a:buChar char="•"/>
            </a:pPr>
            <a:r>
              <a:rPr lang="en-US" sz="2000" b="1" dirty="0"/>
              <a:t>Scalable Multi-Farm Digital Twins</a:t>
            </a:r>
            <a:r>
              <a:rPr lang="en-US" sz="2000" dirty="0"/>
              <a:t> – Extend </a:t>
            </a:r>
            <a:r>
              <a:rPr lang="en-US" sz="2000" dirty="0" err="1"/>
              <a:t>FarmTwin</a:t>
            </a:r>
            <a:r>
              <a:rPr lang="en-US" sz="2000" dirty="0"/>
              <a:t> AI from individual farms to villages, agricultural communities and large-scale farming operations.</a:t>
            </a:r>
          </a:p>
          <a:p>
            <a:pPr marL="0" marR="0" lvl="0" indent="0" algn="l" rtl="0">
              <a:lnSpc>
                <a:spcPct val="162162"/>
              </a:lnSpc>
              <a:spcBef>
                <a:spcPts val="0"/>
              </a:spcBef>
              <a:spcAft>
                <a:spcPts val="0"/>
              </a:spcAft>
              <a:buClr>
                <a:srgbClr val="2B3541"/>
              </a:buClr>
              <a:buSzPts val="1850"/>
              <a:buFont typeface="Times New Roman"/>
              <a:buNone/>
            </a:pPr>
            <a:endParaRPr sz="1850" b="0" i="0" u="none" strike="noStrike" cap="none" dirty="0">
              <a:solidFill>
                <a:srgbClr val="000000"/>
              </a:solidFill>
              <a:latin typeface="Times New Roman"/>
              <a:ea typeface="Times New Roman"/>
              <a:cs typeface="Times New Roman"/>
              <a:sym typeface="Times New Roman"/>
            </a:endParaRPr>
          </a:p>
        </p:txBody>
      </p:sp>
      <p:sp>
        <p:nvSpPr>
          <p:cNvPr id="280" name="Google Shape;280;p18">
            <a:extLst>
              <a:ext uri="{FF2B5EF4-FFF2-40B4-BE49-F238E27FC236}">
                <a16:creationId xmlns:a16="http://schemas.microsoft.com/office/drawing/2014/main" id="{B888011B-E4AC-77DB-4A60-BE2C891C49F5}"/>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91F05971-9256-10B5-6575-4E7C679C6DAA}"/>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F1C3EBC2-438F-C150-9ABF-F14321C2CC5C}"/>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74002846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3F1C7BCA-5DD7-F4D3-A937-D1C56976DA01}"/>
              </a:ext>
            </a:extLst>
          </p:cNvPr>
          <p:cNvSpPr txBox="1"/>
          <p:nvPr/>
        </p:nvSpPr>
        <p:spPr>
          <a:xfrm>
            <a:off x="327949" y="207380"/>
            <a:ext cx="609600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a:t>Certificates Earned:</a:t>
            </a:r>
          </a:p>
          <a:p>
            <a:pPr algn="ctr"/>
            <a:endParaRPr lang="en-US"/>
          </a:p>
        </p:txBody>
      </p:sp>
      <p:sp>
        <p:nvSpPr>
          <p:cNvPr id="3" name="TextBox 2">
            <a:extLst>
              <a:ext uri="{FF2B5EF4-FFF2-40B4-BE49-F238E27FC236}">
                <a16:creationId xmlns:a16="http://schemas.microsoft.com/office/drawing/2014/main" id="{4837D5EE-379B-FDC5-0854-8AC81D31FADF}"/>
              </a:ext>
            </a:extLst>
          </p:cNvPr>
          <p:cNvSpPr txBox="1"/>
          <p:nvPr/>
        </p:nvSpPr>
        <p:spPr>
          <a:xfrm>
            <a:off x="552048" y="690061"/>
            <a:ext cx="6389965"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800" b="1" dirty="0"/>
              <a:t> </a:t>
            </a:r>
          </a:p>
        </p:txBody>
      </p:sp>
      <p:pic>
        <p:nvPicPr>
          <p:cNvPr id="5" name="Picture 4">
            <a:extLst>
              <a:ext uri="{FF2B5EF4-FFF2-40B4-BE49-F238E27FC236}">
                <a16:creationId xmlns:a16="http://schemas.microsoft.com/office/drawing/2014/main" id="{33C9E117-60E6-6D9F-23BE-C7397E8D823A}"/>
              </a:ext>
            </a:extLst>
          </p:cNvPr>
          <p:cNvPicPr>
            <a:picLocks noChangeAspect="1"/>
          </p:cNvPicPr>
          <p:nvPr/>
        </p:nvPicPr>
        <p:blipFill>
          <a:blip r:embed="rId2"/>
          <a:stretch>
            <a:fillRect/>
          </a:stretch>
        </p:blipFill>
        <p:spPr>
          <a:xfrm>
            <a:off x="3238500" y="571500"/>
            <a:ext cx="5715000" cy="5715000"/>
          </a:xfrm>
          <a:prstGeom prst="rect">
            <a:avLst/>
          </a:prstGeom>
        </p:spPr>
      </p:pic>
    </p:spTree>
    <p:extLst>
      <p:ext uri="{BB962C8B-B14F-4D97-AF65-F5344CB8AC3E}">
        <p14:creationId xmlns:p14="http://schemas.microsoft.com/office/powerpoint/2010/main" val="283348271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889D6D-09F7-CB5C-59F1-F129507B92A2}"/>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9AB74CFF-7831-16D6-6036-706AF48604EF}"/>
              </a:ext>
            </a:extLst>
          </p:cNvPr>
          <p:cNvSpPr txBox="1"/>
          <p:nvPr/>
        </p:nvSpPr>
        <p:spPr>
          <a:xfrm>
            <a:off x="327949" y="207380"/>
            <a:ext cx="609600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a:t>Certificates Earned:</a:t>
            </a:r>
          </a:p>
          <a:p>
            <a:pPr algn="ctr"/>
            <a:endParaRPr lang="en-US"/>
          </a:p>
        </p:txBody>
      </p:sp>
      <p:sp>
        <p:nvSpPr>
          <p:cNvPr id="3" name="TextBox 2">
            <a:extLst>
              <a:ext uri="{FF2B5EF4-FFF2-40B4-BE49-F238E27FC236}">
                <a16:creationId xmlns:a16="http://schemas.microsoft.com/office/drawing/2014/main" id="{A3BBC737-77C8-8103-45FE-169A0C166544}"/>
              </a:ext>
            </a:extLst>
          </p:cNvPr>
          <p:cNvSpPr txBox="1"/>
          <p:nvPr/>
        </p:nvSpPr>
        <p:spPr>
          <a:xfrm>
            <a:off x="552048" y="690061"/>
            <a:ext cx="6389965"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800" b="1" dirty="0"/>
              <a:t> </a:t>
            </a:r>
          </a:p>
        </p:txBody>
      </p:sp>
      <p:pic>
        <p:nvPicPr>
          <p:cNvPr id="4" name="Picture 3">
            <a:extLst>
              <a:ext uri="{FF2B5EF4-FFF2-40B4-BE49-F238E27FC236}">
                <a16:creationId xmlns:a16="http://schemas.microsoft.com/office/drawing/2014/main" id="{FCBADCDF-AADA-35CF-E357-F127D541A21E}"/>
              </a:ext>
            </a:extLst>
          </p:cNvPr>
          <p:cNvPicPr>
            <a:picLocks noChangeAspect="1"/>
          </p:cNvPicPr>
          <p:nvPr/>
        </p:nvPicPr>
        <p:blipFill>
          <a:blip r:embed="rId2"/>
          <a:stretch>
            <a:fillRect/>
          </a:stretch>
        </p:blipFill>
        <p:spPr>
          <a:xfrm>
            <a:off x="3238500" y="775504"/>
            <a:ext cx="5715000" cy="5510996"/>
          </a:xfrm>
          <a:prstGeom prst="rect">
            <a:avLst/>
          </a:prstGeom>
        </p:spPr>
      </p:pic>
    </p:spTree>
    <p:extLst>
      <p:ext uri="{BB962C8B-B14F-4D97-AF65-F5344CB8AC3E}">
        <p14:creationId xmlns:p14="http://schemas.microsoft.com/office/powerpoint/2010/main" val="412463997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CA8544A9-CF92-3FAF-D3EE-31DF90F7A64D}"/>
              </a:ext>
            </a:extLst>
          </p:cNvPr>
          <p:cNvSpPr txBox="1"/>
          <p:nvPr/>
        </p:nvSpPr>
        <p:spPr>
          <a:xfrm>
            <a:off x="176696" y="226391"/>
            <a:ext cx="609600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i="0" u="none" strike="noStrike" baseline="0">
                <a:solidFill>
                  <a:srgbClr val="000000"/>
                </a:solidFill>
                <a:latin typeface="Arial"/>
              </a:rPr>
              <a:t>Certificates Earned:</a:t>
            </a:r>
            <a:r>
              <a:rPr sz="2400" b="0" i="0">
                <a:solidFill>
                  <a:srgbClr val="000000"/>
                </a:solidFill>
                <a:latin typeface="Arial"/>
                <a:ea typeface="Arial"/>
                <a:cs typeface="Arial"/>
              </a:rPr>
              <a:t>​</a:t>
            </a:r>
            <a:endParaRPr lang="en-US"/>
          </a:p>
          <a:p>
            <a:pPr algn="ctr"/>
            <a:endParaRPr lang="en-US"/>
          </a:p>
        </p:txBody>
      </p:sp>
      <p:sp>
        <p:nvSpPr>
          <p:cNvPr id="6" name="TextBox 5">
            <a:extLst>
              <a:ext uri="{FF2B5EF4-FFF2-40B4-BE49-F238E27FC236}">
                <a16:creationId xmlns:a16="http://schemas.microsoft.com/office/drawing/2014/main" id="{C0D36B1A-26C2-CD55-1032-4CB5E4EDF305}"/>
              </a:ext>
            </a:extLst>
          </p:cNvPr>
          <p:cNvSpPr txBox="1"/>
          <p:nvPr/>
        </p:nvSpPr>
        <p:spPr>
          <a:xfrm>
            <a:off x="496843" y="800470"/>
            <a:ext cx="5437681"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dirty="0"/>
              <a:t>IBM BOB Certificate</a:t>
            </a:r>
          </a:p>
        </p:txBody>
      </p:sp>
      <p:pic>
        <p:nvPicPr>
          <p:cNvPr id="8" name="Picture 7">
            <a:extLst>
              <a:ext uri="{FF2B5EF4-FFF2-40B4-BE49-F238E27FC236}">
                <a16:creationId xmlns:a16="http://schemas.microsoft.com/office/drawing/2014/main" id="{50A83F80-B950-C5A9-7C75-5FEF300A44CB}"/>
              </a:ext>
            </a:extLst>
          </p:cNvPr>
          <p:cNvPicPr>
            <a:picLocks noChangeAspect="1"/>
          </p:cNvPicPr>
          <p:nvPr/>
        </p:nvPicPr>
        <p:blipFill>
          <a:blip r:embed="rId2"/>
          <a:stretch>
            <a:fillRect/>
          </a:stretch>
        </p:blipFill>
        <p:spPr>
          <a:xfrm>
            <a:off x="1039692" y="1200580"/>
            <a:ext cx="10112616" cy="5360511"/>
          </a:xfrm>
          <a:prstGeom prst="rect">
            <a:avLst/>
          </a:prstGeom>
        </p:spPr>
      </p:pic>
    </p:spTree>
    <p:extLst>
      <p:ext uri="{BB962C8B-B14F-4D97-AF65-F5344CB8AC3E}">
        <p14:creationId xmlns:p14="http://schemas.microsoft.com/office/powerpoint/2010/main" val="417517770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306"/>
        <p:cNvGrpSpPr/>
        <p:nvPr/>
      </p:nvGrpSpPr>
      <p:grpSpPr>
        <a:xfrm>
          <a:off x="0" y="0"/>
          <a:ext cx="0" cy="0"/>
          <a:chOff x="0" y="0"/>
          <a:chExt cx="0" cy="0"/>
        </a:xfrm>
      </p:grpSpPr>
      <p:pic>
        <p:nvPicPr>
          <p:cNvPr id="310" name="Google Shape;310;p20"/>
          <p:cNvPicPr preferRelativeResize="0"/>
          <p:nvPr/>
        </p:nvPicPr>
        <p:blipFill rotWithShape="1">
          <a:blip r:embed="rId3">
            <a:alphaModFix/>
          </a:blip>
          <a:srcRect/>
          <a:stretch/>
        </p:blipFill>
        <p:spPr>
          <a:xfrm>
            <a:off x="0" y="2190302"/>
            <a:ext cx="12192000" cy="2477396"/>
          </a:xfrm>
          <a:prstGeom prst="rect">
            <a:avLst/>
          </a:prstGeom>
          <a:noFill/>
          <a:ln>
            <a:noFill/>
          </a:ln>
        </p:spPr>
      </p:pic>
    </p:spTree>
    <p:extLst>
      <p:ext uri="{BB962C8B-B14F-4D97-AF65-F5344CB8AC3E}">
        <p14:creationId xmlns:p14="http://schemas.microsoft.com/office/powerpoint/2010/main" val="1440137342"/>
      </p:ext>
    </p:extLst>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TotalTime>
  <Words>1252</Words>
  <Application>Microsoft Office PowerPoint</Application>
  <PresentationFormat>Widescreen</PresentationFormat>
  <Paragraphs>126</Paragraphs>
  <Slides>20</Slides>
  <Notes>15</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20</vt:i4>
      </vt:variant>
    </vt:vector>
  </HeadingPairs>
  <TitlesOfParts>
    <vt:vector size="24" baseType="lpstr">
      <vt:lpstr>Arial</vt:lpstr>
      <vt:lpstr>Calibri</vt:lpstr>
      <vt:lpstr>Times New Roman</vt:lpstr>
      <vt:lpstr>Office Theme</vt:lpstr>
      <vt:lpstr>IBM University Engagement Project Submission </vt:lpstr>
      <vt:lpstr>PowerPoint Presentation</vt:lpstr>
      <vt:lpstr>PowerPoint Presentation</vt:lpstr>
      <vt:lpstr>PowerPoint Presentation</vt:lpstr>
      <vt:lpstr>PowerPoint Presentation</vt:lpstr>
      <vt:lpstr>PowerPoint Presentation</vt:lpstr>
      <vt:lpstr>Requirements.txt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Manda Anirudh</dc:creator>
  <cp:lastModifiedBy>RENUKA SAHU</cp:lastModifiedBy>
  <cp:revision>6</cp:revision>
  <dcterms:created xsi:type="dcterms:W3CDTF">2025-07-08T05:06:56Z</dcterms:created>
  <dcterms:modified xsi:type="dcterms:W3CDTF">2026-09-10T10:05:18Z</dcterms:modified>
</cp:coreProperties>
</file>